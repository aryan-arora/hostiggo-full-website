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p:regular r:id="rId34"/>
      <p:bold r:id="rId35"/>
      <p:italic r:id="rId36"/>
      <p:boldItalic r:id="rId37"/>
    </p:embeddedFont>
    <p:embeddedFont>
      <p:font typeface="Libre Franklin"/>
      <p:regular r:id="rId38"/>
      <p:bold r:id="rId39"/>
      <p:italic r:id="rId40"/>
      <p:boldItalic r:id="rId41"/>
    </p:embeddedFont>
    <p:embeddedFont>
      <p:font typeface="Inter"/>
      <p:regular r:id="rId42"/>
      <p:bold r:id="rId43"/>
      <p:italic r:id="rId44"/>
      <p:boldItalic r:id="rId45"/>
    </p:embeddedFont>
    <p:embeddedFont>
      <p:font typeface="Exo 2 Medium"/>
      <p:regular r:id="rId46"/>
      <p:bold r:id="rId47"/>
      <p:italic r:id="rId48"/>
      <p:boldItalic r:id="rId49"/>
    </p:embeddedFont>
    <p:embeddedFont>
      <p:font typeface="Exo 2"/>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3344CD-A819-4B8D-B5E2-F536C0EF1665}">
  <a:tblStyle styleId="{AF3344CD-A819-4B8D-B5E2-F536C0EF166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LibreFranklin-italic.fntdata"/><Relationship Id="rId42" Type="http://schemas.openxmlformats.org/officeDocument/2006/relationships/font" Target="fonts/Inter-regular.fntdata"/><Relationship Id="rId41" Type="http://schemas.openxmlformats.org/officeDocument/2006/relationships/font" Target="fonts/LibreFranklin-boldItalic.fntdata"/><Relationship Id="rId44" Type="http://schemas.openxmlformats.org/officeDocument/2006/relationships/font" Target="fonts/Inter-italic.fntdata"/><Relationship Id="rId43" Type="http://schemas.openxmlformats.org/officeDocument/2006/relationships/font" Target="fonts/Inter-bold.fntdata"/><Relationship Id="rId46" Type="http://schemas.openxmlformats.org/officeDocument/2006/relationships/font" Target="fonts/Exo2Medium-regular.fntdata"/><Relationship Id="rId45"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Exo2Medium-italic.fntdata"/><Relationship Id="rId47" Type="http://schemas.openxmlformats.org/officeDocument/2006/relationships/font" Target="fonts/Exo2Medium-bold.fntdata"/><Relationship Id="rId49" Type="http://schemas.openxmlformats.org/officeDocument/2006/relationships/font" Target="fonts/Exo2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LibreFranklin-bold.fntdata"/><Relationship Id="rId38" Type="http://schemas.openxmlformats.org/officeDocument/2006/relationships/font" Target="fonts/LibreFranklin-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Exo2-bold.fntdata"/><Relationship Id="rId50" Type="http://schemas.openxmlformats.org/officeDocument/2006/relationships/font" Target="fonts/Exo2-regular.fntdata"/><Relationship Id="rId53" Type="http://schemas.openxmlformats.org/officeDocument/2006/relationships/font" Target="fonts/Exo2-boldItalic.fntdata"/><Relationship Id="rId52" Type="http://schemas.openxmlformats.org/officeDocument/2006/relationships/font" Target="fonts/Exo2-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95" name="Google Shape;9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105" name="Google Shape;10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6eb31229a_0_2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f6eb31229a_0_2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115" name="Google Shape;115;g3f6eb31229a_0_2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6eb31229a_0_4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6eb31229a_0_47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f6eb31229a_0_47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6eb31229a_0_4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6eb31229a_0_48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f6eb31229a_0_48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6eb31229a_0_4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6eb31229a_0_49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f6eb31229a_0_49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6eb31229a_0_5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6eb31229a_0_50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f6eb31229a_0_50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6eb31229a_0_5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f6eb31229a_0_50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f6eb31229a_0_50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6eb31229a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6eb31229a_0_2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6eb31229a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6eb31229a_0_2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6eb31229a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f6eb31229a_0_2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6eb31229a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6eb31229a_0_3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6eb31229a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6eb31229a_0_2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6eb31229a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6eb31229a_0_2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6eb31229a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6eb31229a_0_2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6eb31229a_0_2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f6eb31229a_0_2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6eb31229a_0_2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f6eb31229a_0_2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6eb31229a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f6eb31229a_0_3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6eb31229a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6eb31229a_0_3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6eb31229a_0_19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g3f6eb31229a_0_19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235" name="Google Shape;235;g3f6eb31229a_0_19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6eb31229a_0_3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g3f6eb31229a_0_3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241" name="Google Shape;241;g3f6eb31229a_0_3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6eb31229a_0_2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g3f6eb31229a_0_2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247" name="Google Shape;247;g3f6eb31229a_0_2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6eb31229a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f6eb31229a_0_3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6eb31229a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6eb31229a_0_3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6eb31229a_0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g3f6eb31229a_0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267" name="Google Shape;267;g3f6eb31229a_0_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6eb31229a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6eb31229a_0_4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6eb31229a_0_1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g3f6eb31229a_0_1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286" name="Google Shape;286;g3f6eb31229a_0_1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Computing for Medicine source deck.</a:t>
            </a:r>
            <a:endParaRPr/>
          </a:p>
          <a:p>
            <a:pPr indent="0" lvl="0" marL="0" rtl="0" algn="l">
              <a:spcBef>
                <a:spcPts val="0"/>
              </a:spcBef>
              <a:spcAft>
                <a:spcPts val="0"/>
              </a:spcAft>
              <a:buSzPts val="1200"/>
              <a:buNone/>
            </a:pPr>
            <a:r>
              <a:rPr lang="en-US" sz="1200"/>
              <a:t>- User-provided Foundations in Biomedical Informatics template deck.</a:t>
            </a:r>
            <a:endParaRPr/>
          </a:p>
        </p:txBody>
      </p:sp>
      <p:sp>
        <p:nvSpPr>
          <p:cNvPr id="293" name="Google Shape;293;p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17" name="Google Shape;17;p2"/>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18" name="Google Shape;18;p2"/>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514350" y="1597819"/>
            <a:ext cx="5829300" cy="11025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3"/>
          <p:cNvSpPr txBox="1"/>
          <p:nvPr>
            <p:ph idx="1" type="subTitle"/>
          </p:nvPr>
        </p:nvSpPr>
        <p:spPr>
          <a:xfrm>
            <a:off x="1028700" y="2914650"/>
            <a:ext cx="4800600" cy="131460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22" name="Google Shape;22;p3"/>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23" name="Google Shape;23;p3"/>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24" name="Google Shape;24;p3"/>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 name="Google Shape;27;p4"/>
          <p:cNvSpPr txBox="1"/>
          <p:nvPr>
            <p:ph idx="1" type="body"/>
          </p:nvPr>
        </p:nvSpPr>
        <p:spPr>
          <a:xfrm>
            <a:off x="342900" y="1200150"/>
            <a:ext cx="6172200" cy="33945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28" name="Google Shape;28;p4"/>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29" name="Google Shape;29;p4"/>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30" name="Google Shape;30;p4"/>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541735" y="3305175"/>
            <a:ext cx="5829300" cy="10215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 name="Google Shape;33;p5"/>
          <p:cNvSpPr txBox="1"/>
          <p:nvPr>
            <p:ph idx="1" type="body"/>
          </p:nvPr>
        </p:nvSpPr>
        <p:spPr>
          <a:xfrm>
            <a:off x="541735" y="2180035"/>
            <a:ext cx="5829300" cy="11253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34" name="Google Shape;34;p5"/>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35" name="Google Shape;35;p5"/>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36" name="Google Shape;36;p5"/>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9" name="Google Shape;39;p6"/>
          <p:cNvSpPr txBox="1"/>
          <p:nvPr>
            <p:ph idx="1" type="body"/>
          </p:nvPr>
        </p:nvSpPr>
        <p:spPr>
          <a:xfrm>
            <a:off x="342900"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40" name="Google Shape;40;p6"/>
          <p:cNvSpPr txBox="1"/>
          <p:nvPr>
            <p:ph idx="2" type="body"/>
          </p:nvPr>
        </p:nvSpPr>
        <p:spPr>
          <a:xfrm>
            <a:off x="3486150"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41" name="Google Shape;41;p6"/>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42" name="Google Shape;42;p6"/>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43" name="Google Shape;43;p6"/>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p7"/>
          <p:cNvSpPr txBox="1"/>
          <p:nvPr>
            <p:ph idx="1" type="body"/>
          </p:nvPr>
        </p:nvSpPr>
        <p:spPr>
          <a:xfrm>
            <a:off x="342900" y="1151335"/>
            <a:ext cx="3030000" cy="4800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47" name="Google Shape;47;p7"/>
          <p:cNvSpPr txBox="1"/>
          <p:nvPr>
            <p:ph idx="2" type="body"/>
          </p:nvPr>
        </p:nvSpPr>
        <p:spPr>
          <a:xfrm>
            <a:off x="342900" y="1631156"/>
            <a:ext cx="3030000" cy="2963400"/>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48" name="Google Shape;48;p7"/>
          <p:cNvSpPr txBox="1"/>
          <p:nvPr>
            <p:ph idx="3" type="body"/>
          </p:nvPr>
        </p:nvSpPr>
        <p:spPr>
          <a:xfrm>
            <a:off x="3483769" y="1151335"/>
            <a:ext cx="3031500" cy="4800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49" name="Google Shape;49;p7"/>
          <p:cNvSpPr txBox="1"/>
          <p:nvPr>
            <p:ph idx="4" type="body"/>
          </p:nvPr>
        </p:nvSpPr>
        <p:spPr>
          <a:xfrm>
            <a:off x="3483769" y="1631156"/>
            <a:ext cx="3031500" cy="2963400"/>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50" name="Google Shape;50;p7"/>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51" name="Google Shape;51;p7"/>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52" name="Google Shape;52;p7"/>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5" name="Google Shape;55;p8"/>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56" name="Google Shape;56;p8"/>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57" name="Google Shape;57;p8"/>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342900" y="204788"/>
            <a:ext cx="2256300" cy="8718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9"/>
          <p:cNvSpPr txBox="1"/>
          <p:nvPr>
            <p:ph idx="1" type="body"/>
          </p:nvPr>
        </p:nvSpPr>
        <p:spPr>
          <a:xfrm>
            <a:off x="2681288" y="204788"/>
            <a:ext cx="3833700" cy="4389900"/>
          </a:xfrm>
          <a:prstGeom prst="rect">
            <a:avLst/>
          </a:prstGeom>
          <a:noFill/>
          <a:ln>
            <a:noFill/>
          </a:ln>
        </p:spPr>
        <p:txBody>
          <a:bodyPr anchorCtr="0" anchor="t" bIns="34275" lIns="68575" spcFirstLastPara="1" rIns="68575" wrap="square" tIns="34275">
            <a:norm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61" name="Google Shape;61;p9"/>
          <p:cNvSpPr txBox="1"/>
          <p:nvPr>
            <p:ph idx="2" type="body"/>
          </p:nvPr>
        </p:nvSpPr>
        <p:spPr>
          <a:xfrm>
            <a:off x="342900" y="1076325"/>
            <a:ext cx="2256300" cy="35184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62" name="Google Shape;62;p9"/>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63" name="Google Shape;63;p9"/>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64" name="Google Shape;64;p9"/>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344216" y="3600450"/>
            <a:ext cx="4114800" cy="425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0"/>
          <p:cNvSpPr/>
          <p:nvPr>
            <p:ph idx="2" type="pic"/>
          </p:nvPr>
        </p:nvSpPr>
        <p:spPr>
          <a:xfrm>
            <a:off x="1344216" y="459581"/>
            <a:ext cx="4114800" cy="3086100"/>
          </a:xfrm>
          <a:prstGeom prst="rect">
            <a:avLst/>
          </a:prstGeom>
          <a:noFill/>
          <a:ln>
            <a:noFill/>
          </a:ln>
        </p:spPr>
      </p:sp>
      <p:sp>
        <p:nvSpPr>
          <p:cNvPr id="68" name="Google Shape;68;p10"/>
          <p:cNvSpPr txBox="1"/>
          <p:nvPr>
            <p:ph idx="1" type="body"/>
          </p:nvPr>
        </p:nvSpPr>
        <p:spPr>
          <a:xfrm>
            <a:off x="1344216" y="4025504"/>
            <a:ext cx="4114800" cy="6036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69" name="Google Shape;69;p10"/>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70" name="Google Shape;70;p10"/>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71" name="Google Shape;71;p10"/>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11"/>
          <p:cNvSpPr txBox="1"/>
          <p:nvPr>
            <p:ph idx="1" type="body"/>
          </p:nvPr>
        </p:nvSpPr>
        <p:spPr>
          <a:xfrm rot="5400000">
            <a:off x="1731750" y="-188700"/>
            <a:ext cx="3394500" cy="61722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75" name="Google Shape;75;p11"/>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76" name="Google Shape;76;p11"/>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77" name="Google Shape;77;p11"/>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3549300" y="1628879"/>
            <a:ext cx="4388700" cy="15429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2"/>
          <p:cNvSpPr txBox="1"/>
          <p:nvPr>
            <p:ph idx="1" type="body"/>
          </p:nvPr>
        </p:nvSpPr>
        <p:spPr>
          <a:xfrm rot="5400000">
            <a:off x="406050" y="142978"/>
            <a:ext cx="4388700" cy="45147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81" name="Google Shape;81;p12"/>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82" name="Google Shape;82;p12"/>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888888"/>
              </a:buClr>
              <a:buSzPts val="1100"/>
              <a:buFont typeface="Calibri"/>
              <a:buNone/>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83" name="Google Shape;83;p12"/>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spcAft>
                <a:spcPts val="0"/>
              </a:spcAft>
              <a:buClr>
                <a:srgbClr val="888888"/>
              </a:buClr>
              <a:buSzPts val="900"/>
              <a:buFont typeface="Calibri"/>
              <a:buNone/>
              <a:defRPr/>
            </a:lvl1pPr>
            <a:lvl2pPr indent="0" lvl="1" marL="0" marR="0" algn="r">
              <a:spcBef>
                <a:spcPts val="0"/>
              </a:spcBef>
              <a:spcAft>
                <a:spcPts val="0"/>
              </a:spcAft>
              <a:buClr>
                <a:srgbClr val="888888"/>
              </a:buClr>
              <a:buSzPts val="900"/>
              <a:buFont typeface="Calibri"/>
              <a:buNone/>
              <a:defRPr/>
            </a:lvl2pPr>
            <a:lvl3pPr indent="0" lvl="2" marL="0" marR="0" algn="r">
              <a:spcBef>
                <a:spcPts val="0"/>
              </a:spcBef>
              <a:spcAft>
                <a:spcPts val="0"/>
              </a:spcAft>
              <a:buClr>
                <a:srgbClr val="888888"/>
              </a:buClr>
              <a:buSzPts val="900"/>
              <a:buFont typeface="Calibri"/>
              <a:buNone/>
              <a:defRPr/>
            </a:lvl3pPr>
            <a:lvl4pPr indent="0" lvl="3" marL="0" marR="0" algn="r">
              <a:spcBef>
                <a:spcPts val="0"/>
              </a:spcBef>
              <a:spcAft>
                <a:spcPts val="0"/>
              </a:spcAft>
              <a:buClr>
                <a:srgbClr val="888888"/>
              </a:buClr>
              <a:buSzPts val="900"/>
              <a:buFont typeface="Calibri"/>
              <a:buNone/>
              <a:defRPr/>
            </a:lvl4pPr>
            <a:lvl5pPr indent="0" lvl="4" marL="0" marR="0" algn="r">
              <a:spcBef>
                <a:spcPts val="0"/>
              </a:spcBef>
              <a:spcAft>
                <a:spcPts val="0"/>
              </a:spcAft>
              <a:buClr>
                <a:srgbClr val="888888"/>
              </a:buClr>
              <a:buSzPts val="900"/>
              <a:buFont typeface="Calibri"/>
              <a:buNone/>
              <a:defRPr/>
            </a:lvl5pPr>
            <a:lvl6pPr indent="0" lvl="5" marL="0" marR="0" algn="r">
              <a:spcBef>
                <a:spcPts val="0"/>
              </a:spcBef>
              <a:spcAft>
                <a:spcPts val="0"/>
              </a:spcAft>
              <a:buClr>
                <a:srgbClr val="888888"/>
              </a:buClr>
              <a:buSzPts val="900"/>
              <a:buFont typeface="Calibri"/>
              <a:buNone/>
              <a:defRPr/>
            </a:lvl6pPr>
            <a:lvl7pPr indent="0" lvl="6" marL="0" marR="0" algn="r">
              <a:spcBef>
                <a:spcPts val="0"/>
              </a:spcBef>
              <a:spcAft>
                <a:spcPts val="0"/>
              </a:spcAft>
              <a:buClr>
                <a:srgbClr val="888888"/>
              </a:buClr>
              <a:buSzPts val="900"/>
              <a:buFont typeface="Calibri"/>
              <a:buNone/>
              <a:defRPr/>
            </a:lvl7pPr>
            <a:lvl8pPr indent="0" lvl="7" marL="0" marR="0" algn="r">
              <a:spcBef>
                <a:spcPts val="0"/>
              </a:spcBef>
              <a:spcAft>
                <a:spcPts val="0"/>
              </a:spcAft>
              <a:buClr>
                <a:srgbClr val="888888"/>
              </a:buClr>
              <a:buSzPts val="900"/>
              <a:buFont typeface="Calibri"/>
              <a:buNone/>
              <a:defRPr/>
            </a:lvl8pPr>
            <a:lvl9pPr indent="0" lvl="8" marL="0" marR="0" algn="r">
              <a:spcBef>
                <a:spcPts val="0"/>
              </a:spcBef>
              <a:spcAft>
                <a:spcPts val="0"/>
              </a:spcAft>
              <a:buClr>
                <a:srgbClr val="888888"/>
              </a:buClr>
              <a:buSzPts val="900"/>
              <a:buFont typeface="Calibri"/>
              <a:buNone/>
              <a:defRPr/>
            </a:lvl9pPr>
          </a:lstStyle>
          <a:p>
            <a:pPr indent="0" lvl="0" marL="0" rtl="0" algn="r">
              <a:spcBef>
                <a:spcPts val="0"/>
              </a:spcBef>
              <a:spcAft>
                <a:spcPts val="0"/>
              </a:spcAft>
              <a:buNone/>
            </a:pPr>
            <a:fld id="{00000000-1234-1234-1234-123412341234}" type="slidenum">
              <a:rPr lang="en-US"/>
              <a:t>‹#›</a:t>
            </a:fld>
            <a:endParaRPr b="0" i="0" sz="900" u="none" cap="none">
              <a:solidFill>
                <a:srgbClr val="88888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sp>
        <p:nvSpPr>
          <p:cNvPr id="85" name="Google Shape;85;p13"/>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6" name="Google Shape;86;p13"/>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lvl1pPr indent="-381000" lvl="0" marL="457200">
              <a:spcBef>
                <a:spcPts val="500"/>
              </a:spcBef>
              <a:spcAft>
                <a:spcPts val="0"/>
              </a:spcAft>
              <a:buSzPts val="2400"/>
              <a:buChar char="•"/>
              <a:defRPr/>
            </a:lvl1pPr>
            <a:lvl2pPr indent="-361950" lvl="1" marL="914400">
              <a:spcBef>
                <a:spcPts val="400"/>
              </a:spcBef>
              <a:spcAft>
                <a:spcPts val="0"/>
              </a:spcAft>
              <a:buSzPts val="2100"/>
              <a:buChar char="–"/>
              <a:defRPr/>
            </a:lvl2pPr>
            <a:lvl3pPr indent="-342900" lvl="2" marL="1371600">
              <a:spcBef>
                <a:spcPts val="400"/>
              </a:spcBef>
              <a:spcAft>
                <a:spcPts val="0"/>
              </a:spcAft>
              <a:buSzPts val="1800"/>
              <a:buChar char="•"/>
              <a:defRPr/>
            </a:lvl3pPr>
            <a:lvl4pPr indent="-323850" lvl="3" marL="1828800">
              <a:spcBef>
                <a:spcPts val="300"/>
              </a:spcBef>
              <a:spcAft>
                <a:spcPts val="0"/>
              </a:spcAft>
              <a:buSzPts val="1500"/>
              <a:buChar char="–"/>
              <a:defRPr/>
            </a:lvl4pPr>
            <a:lvl5pPr indent="-323850" lvl="4" marL="2286000">
              <a:spcBef>
                <a:spcPts val="300"/>
              </a:spcBef>
              <a:spcAft>
                <a:spcPts val="0"/>
              </a:spcAft>
              <a:buSzPts val="1500"/>
              <a:buChar char="»"/>
              <a:defRPr/>
            </a:lvl5pPr>
            <a:lvl6pPr indent="-323850" lvl="5" marL="2743200">
              <a:spcBef>
                <a:spcPts val="300"/>
              </a:spcBef>
              <a:spcAft>
                <a:spcPts val="0"/>
              </a:spcAft>
              <a:buSzPts val="1500"/>
              <a:buChar char="•"/>
              <a:defRPr/>
            </a:lvl6pPr>
            <a:lvl7pPr indent="-323850" lvl="6" marL="3200400">
              <a:spcBef>
                <a:spcPts val="300"/>
              </a:spcBef>
              <a:spcAft>
                <a:spcPts val="0"/>
              </a:spcAft>
              <a:buSzPts val="1500"/>
              <a:buChar char="•"/>
              <a:defRPr/>
            </a:lvl7pPr>
            <a:lvl8pPr indent="-323850" lvl="7" marL="3657600">
              <a:spcBef>
                <a:spcPts val="300"/>
              </a:spcBef>
              <a:spcAft>
                <a:spcPts val="0"/>
              </a:spcAft>
              <a:buSzPts val="1500"/>
              <a:buChar char="•"/>
              <a:defRPr/>
            </a:lvl8pPr>
            <a:lvl9pPr indent="-323850" lvl="8" marL="4114800">
              <a:spcBef>
                <a:spcPts val="300"/>
              </a:spcBef>
              <a:spcAft>
                <a:spcPts val="0"/>
              </a:spcAft>
              <a:buSzPts val="1500"/>
              <a:buChar char="•"/>
              <a:defRPr/>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88" name="Shape 88"/>
        <p:cNvGrpSpPr/>
        <p:nvPr/>
      </p:nvGrpSpPr>
      <p:grpSpPr>
        <a:xfrm>
          <a:off x="0" y="0"/>
          <a:ext cx="0" cy="0"/>
          <a:chOff x="0" y="0"/>
          <a:chExt cx="0" cy="0"/>
        </a:xfrm>
      </p:grpSpPr>
      <p:sp>
        <p:nvSpPr>
          <p:cNvPr id="89" name="Google Shape;89;p14"/>
          <p:cNvSpPr txBox="1"/>
          <p:nvPr>
            <p:ph type="title"/>
          </p:nvPr>
        </p:nvSpPr>
        <p:spPr>
          <a:xfrm>
            <a:off x="547730" y="389211"/>
            <a:ext cx="6783900" cy="333300"/>
          </a:xfrm>
          <a:prstGeom prst="rect">
            <a:avLst/>
          </a:prstGeom>
          <a:noFill/>
          <a:ln>
            <a:noFill/>
          </a:ln>
        </p:spPr>
        <p:txBody>
          <a:bodyPr anchorCtr="0" anchor="b" bIns="0" lIns="0" spcFirstLastPara="1" rIns="0" wrap="square" tIns="0">
            <a:spAutoFit/>
          </a:bodyPr>
          <a:lstStyle>
            <a:lvl1pPr lvl="0" algn="l">
              <a:lnSpc>
                <a:spcPct val="80000"/>
              </a:lnSpc>
              <a:spcBef>
                <a:spcPts val="0"/>
              </a:spcBef>
              <a:spcAft>
                <a:spcPts val="0"/>
              </a:spcAft>
              <a:buSzPts val="3300"/>
              <a:buNone/>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90" name="Google Shape;90;p14"/>
          <p:cNvSpPr txBox="1"/>
          <p:nvPr>
            <p:ph idx="1" type="body"/>
          </p:nvPr>
        </p:nvSpPr>
        <p:spPr>
          <a:xfrm>
            <a:off x="547077" y="939255"/>
            <a:ext cx="8056500" cy="3570900"/>
          </a:xfrm>
          <a:prstGeom prst="rect">
            <a:avLst/>
          </a:prstGeom>
          <a:noFill/>
          <a:ln>
            <a:noFill/>
          </a:ln>
        </p:spPr>
        <p:txBody>
          <a:bodyPr anchorCtr="0" anchor="t" bIns="0" lIns="0" spcFirstLastPara="1" rIns="0" wrap="square" tIns="0">
            <a:normAutofit/>
          </a:bodyPr>
          <a:lstStyle>
            <a:lvl1pPr indent="-228600" lvl="0" marL="457200" algn="l">
              <a:spcBef>
                <a:spcPts val="1200"/>
              </a:spcBef>
              <a:spcAft>
                <a:spcPts val="0"/>
              </a:spcAft>
              <a:buSzPts val="2400"/>
              <a:buNone/>
              <a:defRPr/>
            </a:lvl1pPr>
            <a:lvl2pPr indent="-317500" lvl="1" marL="914400" algn="l">
              <a:spcBef>
                <a:spcPts val="600"/>
              </a:spcBef>
              <a:spcAft>
                <a:spcPts val="0"/>
              </a:spcAft>
              <a:buSzPts val="1400"/>
              <a:buChar char="–"/>
              <a:defRPr>
                <a:latin typeface="Arial"/>
                <a:ea typeface="Arial"/>
                <a:cs typeface="Arial"/>
                <a:sym typeface="Arial"/>
              </a:defRPr>
            </a:lvl2pPr>
            <a:lvl3pPr indent="-304800" lvl="2" marL="1371600" algn="l">
              <a:spcBef>
                <a:spcPts val="600"/>
              </a:spcBef>
              <a:spcAft>
                <a:spcPts val="0"/>
              </a:spcAft>
              <a:buSzPts val="1200"/>
              <a:buChar char="•"/>
              <a:defRPr>
                <a:latin typeface="Arial"/>
                <a:ea typeface="Arial"/>
                <a:cs typeface="Arial"/>
                <a:sym typeface="Arial"/>
              </a:defRPr>
            </a:lvl3pPr>
            <a:lvl4pPr indent="-298450" lvl="3" marL="1828800" algn="l">
              <a:spcBef>
                <a:spcPts val="600"/>
              </a:spcBef>
              <a:spcAft>
                <a:spcPts val="0"/>
              </a:spcAft>
              <a:buSzPts val="1100"/>
              <a:buChar char="–"/>
              <a:defRPr>
                <a:latin typeface="Arial"/>
                <a:ea typeface="Arial"/>
                <a:cs typeface="Arial"/>
                <a:sym typeface="Arial"/>
              </a:defRPr>
            </a:lvl4pPr>
            <a:lvl5pPr indent="-292100" lvl="4" marL="2286000" algn="l">
              <a:lnSpc>
                <a:spcPct val="100000"/>
              </a:lnSpc>
              <a:spcBef>
                <a:spcPts val="600"/>
              </a:spcBef>
              <a:spcAft>
                <a:spcPts val="0"/>
              </a:spcAft>
              <a:buSzPts val="1000"/>
              <a:buChar char="»"/>
              <a:defRPr>
                <a:latin typeface="Arial"/>
                <a:ea typeface="Arial"/>
                <a:cs typeface="Arial"/>
                <a:sym typeface="Arial"/>
              </a:defRPr>
            </a:lvl5pPr>
            <a:lvl6pPr indent="-342900" lvl="5" marL="2743200" algn="l">
              <a:spcBef>
                <a:spcPts val="360"/>
              </a:spcBef>
              <a:spcAft>
                <a:spcPts val="0"/>
              </a:spcAft>
              <a:buClr>
                <a:srgbClr val="727274"/>
              </a:buClr>
              <a:buSzPts val="1800"/>
              <a:buChar char="•"/>
              <a:defRPr/>
            </a:lvl6pPr>
            <a:lvl7pPr indent="-342900" lvl="6" marL="3200400" algn="l">
              <a:spcBef>
                <a:spcPts val="360"/>
              </a:spcBef>
              <a:spcAft>
                <a:spcPts val="0"/>
              </a:spcAft>
              <a:buClr>
                <a:srgbClr val="727274"/>
              </a:buClr>
              <a:buSzPts val="1800"/>
              <a:buChar char="•"/>
              <a:defRPr/>
            </a:lvl7pPr>
            <a:lvl8pPr indent="-342900" lvl="7" marL="3657600" algn="l">
              <a:spcBef>
                <a:spcPts val="360"/>
              </a:spcBef>
              <a:spcAft>
                <a:spcPts val="0"/>
              </a:spcAft>
              <a:buClr>
                <a:srgbClr val="727274"/>
              </a:buClr>
              <a:buSzPts val="1800"/>
              <a:buChar char="•"/>
              <a:defRPr/>
            </a:lvl8pPr>
            <a:lvl9pPr indent="-342900" lvl="8" marL="4114800" algn="l">
              <a:spcBef>
                <a:spcPts val="360"/>
              </a:spcBef>
              <a:spcAft>
                <a:spcPts val="0"/>
              </a:spcAft>
              <a:buClr>
                <a:srgbClr val="727274"/>
              </a:buClr>
              <a:buSzPts val="1800"/>
              <a:buChar char="•"/>
              <a:defRPr/>
            </a:lvl9pPr>
          </a:lstStyle>
          <a:p/>
        </p:txBody>
      </p:sp>
      <p:sp>
        <p:nvSpPr>
          <p:cNvPr id="91" name="Google Shape;91;p14"/>
          <p:cNvSpPr txBox="1"/>
          <p:nvPr>
            <p:ph idx="12" type="sldNum"/>
          </p:nvPr>
        </p:nvSpPr>
        <p:spPr>
          <a:xfrm>
            <a:off x="4355023" y="4870066"/>
            <a:ext cx="279000" cy="138600"/>
          </a:xfrm>
          <a:prstGeom prst="rect">
            <a:avLst/>
          </a:prstGeom>
          <a:noFill/>
          <a:ln>
            <a:noFill/>
          </a:ln>
        </p:spPr>
        <p:txBody>
          <a:bodyPr anchorCtr="0" anchor="ctr" bIns="0" lIns="0" spcFirstLastPara="1" rIns="0" wrap="square" tIns="0">
            <a:spAutoFit/>
          </a:bodyPr>
          <a:lstStyle>
            <a:lvl1pPr indent="0" lvl="0" marL="0" algn="r">
              <a:spcBef>
                <a:spcPts val="0"/>
              </a:spcBef>
              <a:spcAft>
                <a:spcPts val="0"/>
              </a:spcAft>
              <a:buNone/>
              <a:defRPr b="1" sz="900">
                <a:solidFill>
                  <a:srgbClr val="FFFFFF"/>
                </a:solidFill>
                <a:latin typeface="Roboto"/>
                <a:ea typeface="Roboto"/>
                <a:cs typeface="Roboto"/>
                <a:sym typeface="Roboto"/>
              </a:defRPr>
            </a:lvl1pPr>
            <a:lvl2pPr indent="0" lvl="1" marL="0" algn="r">
              <a:spcBef>
                <a:spcPts val="0"/>
              </a:spcBef>
              <a:spcAft>
                <a:spcPts val="0"/>
              </a:spcAft>
              <a:buNone/>
              <a:defRPr b="1" sz="900">
                <a:solidFill>
                  <a:srgbClr val="FFFFFF"/>
                </a:solidFill>
                <a:latin typeface="Roboto"/>
                <a:ea typeface="Roboto"/>
                <a:cs typeface="Roboto"/>
                <a:sym typeface="Roboto"/>
              </a:defRPr>
            </a:lvl2pPr>
            <a:lvl3pPr indent="0" lvl="2" marL="0" algn="r">
              <a:spcBef>
                <a:spcPts val="0"/>
              </a:spcBef>
              <a:spcAft>
                <a:spcPts val="0"/>
              </a:spcAft>
              <a:buNone/>
              <a:defRPr b="1" sz="900">
                <a:solidFill>
                  <a:srgbClr val="FFFFFF"/>
                </a:solidFill>
                <a:latin typeface="Roboto"/>
                <a:ea typeface="Roboto"/>
                <a:cs typeface="Roboto"/>
                <a:sym typeface="Roboto"/>
              </a:defRPr>
            </a:lvl3pPr>
            <a:lvl4pPr indent="0" lvl="3" marL="0" algn="r">
              <a:spcBef>
                <a:spcPts val="0"/>
              </a:spcBef>
              <a:spcAft>
                <a:spcPts val="0"/>
              </a:spcAft>
              <a:buNone/>
              <a:defRPr b="1" sz="900">
                <a:solidFill>
                  <a:srgbClr val="FFFFFF"/>
                </a:solidFill>
                <a:latin typeface="Roboto"/>
                <a:ea typeface="Roboto"/>
                <a:cs typeface="Roboto"/>
                <a:sym typeface="Roboto"/>
              </a:defRPr>
            </a:lvl4pPr>
            <a:lvl5pPr indent="0" lvl="4" marL="0" algn="r">
              <a:spcBef>
                <a:spcPts val="0"/>
              </a:spcBef>
              <a:spcAft>
                <a:spcPts val="0"/>
              </a:spcAft>
              <a:buNone/>
              <a:defRPr b="1" sz="900">
                <a:solidFill>
                  <a:srgbClr val="FFFFFF"/>
                </a:solidFill>
                <a:latin typeface="Roboto"/>
                <a:ea typeface="Roboto"/>
                <a:cs typeface="Roboto"/>
                <a:sym typeface="Roboto"/>
              </a:defRPr>
            </a:lvl5pPr>
            <a:lvl6pPr indent="0" lvl="5" marL="0" algn="r">
              <a:spcBef>
                <a:spcPts val="0"/>
              </a:spcBef>
              <a:spcAft>
                <a:spcPts val="0"/>
              </a:spcAft>
              <a:buNone/>
              <a:defRPr b="1" sz="900">
                <a:solidFill>
                  <a:srgbClr val="FFFFFF"/>
                </a:solidFill>
                <a:latin typeface="Roboto"/>
                <a:ea typeface="Roboto"/>
                <a:cs typeface="Roboto"/>
                <a:sym typeface="Roboto"/>
              </a:defRPr>
            </a:lvl6pPr>
            <a:lvl7pPr indent="0" lvl="6" marL="0" algn="r">
              <a:spcBef>
                <a:spcPts val="0"/>
              </a:spcBef>
              <a:spcAft>
                <a:spcPts val="0"/>
              </a:spcAft>
              <a:buNone/>
              <a:defRPr b="1" sz="900">
                <a:solidFill>
                  <a:srgbClr val="FFFFFF"/>
                </a:solidFill>
                <a:latin typeface="Roboto"/>
                <a:ea typeface="Roboto"/>
                <a:cs typeface="Roboto"/>
                <a:sym typeface="Roboto"/>
              </a:defRPr>
            </a:lvl7pPr>
            <a:lvl8pPr indent="0" lvl="7" marL="0" algn="r">
              <a:spcBef>
                <a:spcPts val="0"/>
              </a:spcBef>
              <a:spcAft>
                <a:spcPts val="0"/>
              </a:spcAft>
              <a:buNone/>
              <a:defRPr b="1" sz="900">
                <a:solidFill>
                  <a:srgbClr val="FFFFFF"/>
                </a:solidFill>
                <a:latin typeface="Roboto"/>
                <a:ea typeface="Roboto"/>
                <a:cs typeface="Roboto"/>
                <a:sym typeface="Roboto"/>
              </a:defRPr>
            </a:lvl8pPr>
            <a:lvl9pPr indent="0" lvl="8" marL="0" algn="r">
              <a:spcBef>
                <a:spcPts val="0"/>
              </a:spcBef>
              <a:spcAft>
                <a:spcPts val="0"/>
              </a:spcAft>
              <a:buNone/>
              <a:defRPr b="1" sz="900">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0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342900" y="1200150"/>
            <a:ext cx="6172200" cy="33945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Clr>
                <a:srgbClr val="888888"/>
              </a:buClr>
              <a:buSzPts val="1100"/>
              <a:buFont typeface="Calibri"/>
              <a:buNone/>
              <a:defRPr b="0" i="0" sz="900" u="none" cap="none">
                <a:solidFill>
                  <a:srgbClr val="888888"/>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Clr>
                <a:srgbClr val="888888"/>
              </a:buClr>
              <a:buSzPts val="1100"/>
              <a:buFont typeface="Calibri"/>
              <a:buNone/>
              <a:defRPr b="0" i="0" sz="900" u="none" cap="none">
                <a:solidFill>
                  <a:srgbClr val="888888"/>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1pPr>
            <a:lvl2pPr indent="0" lvl="1"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2pPr>
            <a:lvl3pPr indent="0" lvl="2"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3pPr>
            <a:lvl4pPr indent="0" lvl="3"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4pPr>
            <a:lvl5pPr indent="0" lvl="4"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5pPr>
            <a:lvl6pPr indent="0" lvl="5"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6pPr>
            <a:lvl7pPr indent="0" lvl="6"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7pPr>
            <a:lvl8pPr indent="0" lvl="7"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8pPr>
            <a:lvl9pPr indent="0" lvl="8" marL="0" marR="0" rtl="0" algn="r">
              <a:spcBef>
                <a:spcPts val="0"/>
              </a:spcBef>
              <a:spcAft>
                <a:spcPts val="0"/>
              </a:spcAft>
              <a:buClr>
                <a:srgbClr val="888888"/>
              </a:buClr>
              <a:buSzPts val="900"/>
              <a:buFont typeface="Calibri"/>
              <a:buNone/>
              <a:defRPr b="0" i="0" sz="900" u="none" cap="non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27.png"/><Relationship Id="rId5" Type="http://schemas.openxmlformats.org/officeDocument/2006/relationships/hyperlink" Target="https://safeicu.aiims.edu.in/project/safeicu/"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20" Type="http://schemas.openxmlformats.org/officeDocument/2006/relationships/hyperlink" Target="https://covid19researchdatabase.org/" TargetMode="External"/><Relationship Id="rId11" Type="http://schemas.openxmlformats.org/officeDocument/2006/relationships/hyperlink" Target="https://covid.cd2h.org/N3C" TargetMode="External"/><Relationship Id="rId10" Type="http://schemas.openxmlformats.org/officeDocument/2006/relationships/hyperlink" Target="https://covid.cd2h.org/N3C" TargetMode="External"/><Relationship Id="rId13" Type="http://schemas.openxmlformats.org/officeDocument/2006/relationships/hyperlink" Target="https://datascience.nih.gov/covid-19-open-access-resources" TargetMode="External"/><Relationship Id="rId12" Type="http://schemas.openxmlformats.org/officeDocument/2006/relationships/hyperlink" Target="https://data.ohdsi.org/Covid19CharacterizationCharybdis/" TargetMode="External"/><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covidclinical.net/data/index.html" TargetMode="External"/><Relationship Id="rId4" Type="http://schemas.openxmlformats.org/officeDocument/2006/relationships/hyperlink" Target="https://covid19.figshare.com/" TargetMode="External"/><Relationship Id="rId9" Type="http://schemas.openxmlformats.org/officeDocument/2006/relationships/hyperlink" Target="https://data.mendeley.com/research-data/elsevier-covid19" TargetMode="External"/><Relationship Id="rId15" Type="http://schemas.openxmlformats.org/officeDocument/2006/relationships/hyperlink" Target="https://opensafely.org/" TargetMode="External"/><Relationship Id="rId14" Type="http://schemas.openxmlformats.org/officeDocument/2006/relationships/hyperlink" Target="https://opensafely.org/" TargetMode="External"/><Relationship Id="rId17" Type="http://schemas.openxmlformats.org/officeDocument/2006/relationships/hyperlink" Target="https://search.vivli.org/?search=COVID" TargetMode="External"/><Relationship Id="rId16" Type="http://schemas.openxmlformats.org/officeDocument/2006/relationships/hyperlink" Target="https://www.tableau.com/covid-19-coronavirus-data-resources" TargetMode="External"/><Relationship Id="rId5" Type="http://schemas.openxmlformats.org/officeDocument/2006/relationships/hyperlink" Target="https://github.com/github/covid-19-repo-data" TargetMode="External"/><Relationship Id="rId19" Type="http://schemas.openxmlformats.org/officeDocument/2006/relationships/hyperlink" Target="https://zenodo.org/communities/covid-19/?page=1&amp;size=20" TargetMode="External"/><Relationship Id="rId6" Type="http://schemas.openxmlformats.org/officeDocument/2006/relationships/hyperlink" Target="https://dataverse.harvard.edu/dataverse/cdl_dataverse" TargetMode="External"/><Relationship Id="rId18" Type="http://schemas.openxmlformats.org/officeDocument/2006/relationships/hyperlink" Target="https://search.vivli.org/?search=COVID" TargetMode="External"/><Relationship Id="rId7" Type="http://schemas.openxmlformats.org/officeDocument/2006/relationships/hyperlink" Target="https://www.openicpsr.org/openicpsr/search/covid19/studies;jsessionid=B52BE2F80F0BA3749D7F0BF679FAB520" TargetMode="External"/><Relationship Id="rId8" Type="http://schemas.openxmlformats.org/officeDocument/2006/relationships/hyperlink" Target="https://www.immport.org/shared/search?filters=study_2_condition_or_disease.condition_preferred:COVID-19%20-%20DOID:0080600&amp;utm_source=COVID-19&amp;utm_medium=banner&amp;utm_campaign=COVID-1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www.youtube.com/watch?v=ZxpA74XBGWY" TargetMode="External"/><Relationship Id="rId4" Type="http://schemas.openxmlformats.org/officeDocument/2006/relationships/image" Target="../media/image2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www.youtube.com/watch?v=a8H6YWheqzY" TargetMode="External"/><Relationship Id="rId4"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www.youtube.com/watch?v=a8H6YWheqzY" TargetMode="External"/><Relationship Id="rId4"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23.png"/><Relationship Id="rId5"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96" name="Shape 96"/>
        <p:cNvGrpSpPr/>
        <p:nvPr/>
      </p:nvGrpSpPr>
      <p:grpSpPr>
        <a:xfrm>
          <a:off x="0" y="0"/>
          <a:ext cx="0" cy="0"/>
          <a:chOff x="0" y="0"/>
          <a:chExt cx="0" cy="0"/>
        </a:xfrm>
      </p:grpSpPr>
      <p:pic>
        <p:nvPicPr>
          <p:cNvPr id="97" name="Google Shape;97;p1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98" name="Google Shape;98;p15"/>
          <p:cNvPicPr preferRelativeResize="0"/>
          <p:nvPr/>
        </p:nvPicPr>
        <p:blipFill rotWithShape="1">
          <a:blip r:embed="rId4">
            <a:alphaModFix/>
          </a:blip>
          <a:srcRect b="0" l="0" r="0" t="0"/>
          <a:stretch/>
        </p:blipFill>
        <p:spPr>
          <a:xfrm>
            <a:off x="435769" y="1005513"/>
            <a:ext cx="6429375" cy="2754473"/>
          </a:xfrm>
          <a:prstGeom prst="rect">
            <a:avLst/>
          </a:prstGeom>
          <a:noFill/>
          <a:ln>
            <a:noFill/>
          </a:ln>
        </p:spPr>
      </p:pic>
      <p:sp>
        <p:nvSpPr>
          <p:cNvPr id="99" name="Google Shape;99;p15"/>
          <p:cNvSpPr/>
          <p:nvPr/>
        </p:nvSpPr>
        <p:spPr>
          <a:xfrm>
            <a:off x="871538" y="1630225"/>
            <a:ext cx="5835900" cy="1828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B981"/>
              </a:buClr>
              <a:buSzPts val="1000"/>
              <a:buFont typeface="Exo 2 Medium"/>
              <a:buNone/>
            </a:pPr>
            <a:r>
              <a:rPr b="0" i="0" lang="en-US" sz="1000" u="none" cap="none">
                <a:solidFill>
                  <a:srgbClr val="10B981"/>
                </a:solidFill>
                <a:latin typeface="Exo 2 Medium"/>
                <a:ea typeface="Exo 2 Medium"/>
                <a:cs typeface="Exo 2 Medium"/>
                <a:sym typeface="Exo 2 Medium"/>
              </a:rPr>
              <a:t>MONSOON SEMESTER 2026</a:t>
            </a:r>
            <a:endParaRPr sz="1100"/>
          </a:p>
        </p:txBody>
      </p:sp>
      <p:sp>
        <p:nvSpPr>
          <p:cNvPr id="100" name="Google Shape;100;p15"/>
          <p:cNvSpPr/>
          <p:nvPr/>
        </p:nvSpPr>
        <p:spPr>
          <a:xfrm>
            <a:off x="871538" y="1891643"/>
            <a:ext cx="5835900" cy="1218900"/>
          </a:xfrm>
          <a:prstGeom prst="rect">
            <a:avLst/>
          </a:prstGeom>
          <a:noFill/>
          <a:ln>
            <a:noFill/>
          </a:ln>
        </p:spPr>
        <p:txBody>
          <a:bodyPr anchorCtr="0" anchor="t" bIns="0" lIns="0" spcFirstLastPara="1" rIns="0" wrap="square" tIns="0">
            <a:noAutofit/>
          </a:bodyPr>
          <a:lstStyle/>
          <a:p>
            <a:pPr indent="0" lvl="0" marL="0" marR="0" rtl="0" algn="l">
              <a:lnSpc>
                <a:spcPct val="119979"/>
              </a:lnSpc>
              <a:spcBef>
                <a:spcPts val="0"/>
              </a:spcBef>
              <a:spcAft>
                <a:spcPts val="0"/>
              </a:spcAft>
              <a:buClr>
                <a:srgbClr val="F8FAFC"/>
              </a:buClr>
              <a:buSzPts val="3600"/>
              <a:buFont typeface="Exo 2"/>
              <a:buNone/>
            </a:pPr>
            <a:r>
              <a:rPr b="1" i="0" lang="en-US" sz="3600" u="none" cap="none">
                <a:solidFill>
                  <a:srgbClr val="F8FAFC"/>
                </a:solidFill>
                <a:latin typeface="Exo 2"/>
                <a:ea typeface="Exo 2"/>
                <a:cs typeface="Exo 2"/>
                <a:sym typeface="Exo 2"/>
              </a:rPr>
              <a:t>Computing for Medicine</a:t>
            </a:r>
            <a:endParaRPr sz="1100"/>
          </a:p>
        </p:txBody>
      </p:sp>
      <p:sp>
        <p:nvSpPr>
          <p:cNvPr id="101" name="Google Shape;101;p15"/>
          <p:cNvSpPr/>
          <p:nvPr/>
        </p:nvSpPr>
        <p:spPr>
          <a:xfrm>
            <a:off x="871538" y="3131753"/>
            <a:ext cx="5558100" cy="341257"/>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Clr>
                <a:srgbClr val="E2E8F0"/>
              </a:buClr>
              <a:buSzPts val="1400"/>
              <a:buFont typeface="Inter"/>
              <a:buNone/>
            </a:pPr>
            <a:r>
              <a:rPr b="0" i="0" lang="en-US" sz="1400" u="none" cap="none">
                <a:solidFill>
                  <a:srgbClr val="E2E8F0"/>
                </a:solidFill>
                <a:latin typeface="Inter"/>
                <a:ea typeface="Inter"/>
                <a:cs typeface="Inter"/>
                <a:sym typeface="Inter"/>
              </a:rPr>
              <a:t>Lecture </a:t>
            </a:r>
            <a:r>
              <a:rPr lang="en-US">
                <a:solidFill>
                  <a:srgbClr val="E2E8F0"/>
                </a:solidFill>
                <a:latin typeface="Inter"/>
                <a:ea typeface="Inter"/>
                <a:cs typeface="Inter"/>
                <a:sym typeface="Inter"/>
              </a:rPr>
              <a:t>2</a:t>
            </a:r>
            <a:r>
              <a:rPr b="0" i="0" lang="en-US" sz="1400" u="none" cap="none">
                <a:solidFill>
                  <a:srgbClr val="E2E8F0"/>
                </a:solidFill>
                <a:latin typeface="Inter"/>
                <a:ea typeface="Inter"/>
                <a:cs typeface="Inter"/>
                <a:sym typeface="Inter"/>
              </a:rPr>
              <a:t> · </a:t>
            </a:r>
            <a:r>
              <a:rPr lang="en-US">
                <a:solidFill>
                  <a:srgbClr val="E2E8F0"/>
                </a:solidFill>
                <a:latin typeface="Inter"/>
                <a:ea typeface="Inter"/>
                <a:cs typeface="Inter"/>
                <a:sym typeface="Inter"/>
              </a:rPr>
              <a:t>Big Picture: </a:t>
            </a:r>
            <a:r>
              <a:rPr b="0" i="0" lang="en-US" sz="1400" u="none" cap="none">
                <a:solidFill>
                  <a:srgbClr val="E2E8F0"/>
                </a:solidFill>
                <a:latin typeface="Inter"/>
                <a:ea typeface="Inter"/>
                <a:cs typeface="Inter"/>
                <a:sym typeface="Inter"/>
              </a:rPr>
              <a:t>Health systems, </a:t>
            </a:r>
            <a:r>
              <a:rPr lang="en-US">
                <a:solidFill>
                  <a:srgbClr val="E2E8F0"/>
                </a:solidFill>
                <a:latin typeface="Inter"/>
                <a:ea typeface="Inter"/>
                <a:cs typeface="Inter"/>
                <a:sym typeface="Inter"/>
              </a:rPr>
              <a:t>D</a:t>
            </a:r>
            <a:r>
              <a:rPr b="0" i="0" lang="en-US" sz="1400" u="none" cap="none">
                <a:solidFill>
                  <a:srgbClr val="E2E8F0"/>
                </a:solidFill>
                <a:latin typeface="Inter"/>
                <a:ea typeface="Inter"/>
                <a:cs typeface="Inter"/>
                <a:sym typeface="Inter"/>
              </a:rPr>
              <a:t>ata, and AI</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06" name="Shape 106"/>
        <p:cNvGrpSpPr/>
        <p:nvPr/>
      </p:nvGrpSpPr>
      <p:grpSpPr>
        <a:xfrm>
          <a:off x="0" y="0"/>
          <a:ext cx="0" cy="0"/>
          <a:chOff x="0" y="0"/>
          <a:chExt cx="0" cy="0"/>
        </a:xfrm>
      </p:grpSpPr>
      <p:pic>
        <p:nvPicPr>
          <p:cNvPr id="107" name="Google Shape;107;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8" name="Google Shape;108;p16"/>
          <p:cNvSpPr/>
          <p:nvPr/>
        </p:nvSpPr>
        <p:spPr>
          <a:xfrm>
            <a:off x="4850319" y="4506563"/>
            <a:ext cx="3479100" cy="1692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SzPts val="1100"/>
              <a:buFont typeface="Arial"/>
              <a:buNone/>
            </a:pPr>
            <a:r>
              <a:t/>
            </a:r>
            <a:endParaRPr sz="1100"/>
          </a:p>
        </p:txBody>
      </p:sp>
      <p:sp>
        <p:nvSpPr>
          <p:cNvPr id="109" name="Google Shape;109;p16"/>
          <p:cNvSpPr/>
          <p:nvPr/>
        </p:nvSpPr>
        <p:spPr>
          <a:xfrm>
            <a:off x="578644" y="435769"/>
            <a:ext cx="8536200" cy="438900"/>
          </a:xfrm>
          <a:prstGeom prst="rect">
            <a:avLst/>
          </a:prstGeom>
          <a:noFill/>
          <a:ln>
            <a:noFill/>
          </a:ln>
        </p:spPr>
        <p:txBody>
          <a:bodyPr anchorCtr="0" anchor="t" bIns="0" lIns="0" spcFirstLastPara="1" rIns="0" wrap="square" tIns="0">
            <a:noAutofit/>
          </a:bodyPr>
          <a:lstStyle/>
          <a:p>
            <a:pPr indent="0" lvl="0" marL="0" marR="0" rtl="0" algn="l">
              <a:lnSpc>
                <a:spcPct val="119968"/>
              </a:lnSpc>
              <a:spcBef>
                <a:spcPts val="0"/>
              </a:spcBef>
              <a:spcAft>
                <a:spcPts val="0"/>
              </a:spcAft>
              <a:buClr>
                <a:srgbClr val="F1F5F9"/>
              </a:buClr>
              <a:buSzPts val="2400"/>
              <a:buFont typeface="Exo 2"/>
              <a:buNone/>
            </a:pPr>
            <a:r>
              <a:rPr b="1" i="0" lang="en-US" sz="2400" u="none" cap="none">
                <a:solidFill>
                  <a:srgbClr val="F1F5F9"/>
                </a:solidFill>
                <a:latin typeface="Exo 2"/>
                <a:ea typeface="Exo 2"/>
                <a:cs typeface="Exo 2"/>
                <a:sym typeface="Exo 2"/>
              </a:rPr>
              <a:t>Today's Menu</a:t>
            </a:r>
            <a:endParaRPr sz="1100"/>
          </a:p>
        </p:txBody>
      </p:sp>
      <p:sp>
        <p:nvSpPr>
          <p:cNvPr id="110" name="Google Shape;110;p16"/>
          <p:cNvSpPr/>
          <p:nvPr/>
        </p:nvSpPr>
        <p:spPr>
          <a:xfrm>
            <a:off x="435769" y="435769"/>
            <a:ext cx="35700" cy="360000"/>
          </a:xfrm>
          <a:prstGeom prst="rect">
            <a:avLst/>
          </a:prstGeom>
          <a:solidFill>
            <a:srgbClr val="10B98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dk1"/>
              </a:solidFill>
              <a:latin typeface="Calibri"/>
              <a:ea typeface="Calibri"/>
              <a:cs typeface="Calibri"/>
              <a:sym typeface="Calibri"/>
            </a:endParaRPr>
          </a:p>
        </p:txBody>
      </p:sp>
      <p:graphicFrame>
        <p:nvGraphicFramePr>
          <p:cNvPr id="111" name="Google Shape;111;p16"/>
          <p:cNvGraphicFramePr/>
          <p:nvPr/>
        </p:nvGraphicFramePr>
        <p:xfrm>
          <a:off x="627100" y="1419600"/>
          <a:ext cx="3000000" cy="3000000"/>
        </p:xfrm>
        <a:graphic>
          <a:graphicData uri="http://schemas.openxmlformats.org/drawingml/2006/table">
            <a:tbl>
              <a:tblPr>
                <a:noFill/>
                <a:tableStyleId>{AF3344CD-A819-4B8D-B5E2-F536C0EF1665}</a:tableStyleId>
              </a:tblPr>
              <a:tblGrid>
                <a:gridCol w="2225100"/>
                <a:gridCol w="5685750"/>
              </a:tblGrid>
              <a:tr h="381000">
                <a:tc>
                  <a:txBody>
                    <a:bodyPr/>
                    <a:lstStyle/>
                    <a:p>
                      <a:pPr indent="0" lvl="0" marL="0" marR="0" rtl="0" algn="l">
                        <a:lnSpc>
                          <a:spcPct val="100000"/>
                        </a:lnSpc>
                        <a:spcBef>
                          <a:spcPts val="0"/>
                        </a:spcBef>
                        <a:spcAft>
                          <a:spcPts val="0"/>
                        </a:spcAft>
                        <a:buNone/>
                      </a:pPr>
                      <a:r>
                        <a:rPr lang="en-US">
                          <a:solidFill>
                            <a:schemeClr val="lt2"/>
                          </a:solidFill>
                        </a:rPr>
                        <a:t>Data</a:t>
                      </a:r>
                      <a:endParaRPr>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None/>
                      </a:pPr>
                      <a:r>
                        <a:rPr lang="en-US">
                          <a:solidFill>
                            <a:schemeClr val="lt2"/>
                          </a:solidFill>
                        </a:rPr>
                        <a:t>What are the kinds of Data in Healthcare?</a:t>
                      </a:r>
                      <a:endParaRPr>
                        <a:solidFill>
                          <a:schemeClr val="lt2"/>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lt2"/>
                          </a:solidFill>
                        </a:rPr>
                        <a:t>Big Picture</a:t>
                      </a:r>
                      <a:endParaRPr sz="1400" u="none" cap="none" strike="noStrike">
                        <a:solidFill>
                          <a:schemeClr val="lt2"/>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lt2"/>
                          </a:solidFill>
                        </a:rPr>
                        <a:t>What Will it Take to Go From “Computing for Medicine” to “Knowing Medicine”?</a:t>
                      </a:r>
                      <a:endParaRPr sz="1400" u="none" cap="none" strike="noStrike">
                        <a:solidFill>
                          <a:schemeClr val="lt2"/>
                        </a:solidFill>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16" name="Shape 116"/>
        <p:cNvGrpSpPr/>
        <p:nvPr/>
      </p:nvGrpSpPr>
      <p:grpSpPr>
        <a:xfrm>
          <a:off x="0" y="0"/>
          <a:ext cx="0" cy="0"/>
          <a:chOff x="0" y="0"/>
          <a:chExt cx="0" cy="0"/>
        </a:xfrm>
      </p:grpSpPr>
      <p:pic>
        <p:nvPicPr>
          <p:cNvPr id="117" name="Google Shape;117;p1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118" name="Google Shape;118;p17"/>
          <p:cNvPicPr preferRelativeResize="0"/>
          <p:nvPr/>
        </p:nvPicPr>
        <p:blipFill rotWithShape="1">
          <a:blip r:embed="rId4">
            <a:alphaModFix/>
          </a:blip>
          <a:srcRect b="0" l="0" r="0" t="0"/>
          <a:stretch/>
        </p:blipFill>
        <p:spPr>
          <a:xfrm>
            <a:off x="435769" y="1525190"/>
            <a:ext cx="8272462" cy="571500"/>
          </a:xfrm>
          <a:prstGeom prst="rect">
            <a:avLst/>
          </a:prstGeom>
          <a:noFill/>
          <a:ln>
            <a:noFill/>
          </a:ln>
        </p:spPr>
      </p:pic>
      <p:sp>
        <p:nvSpPr>
          <p:cNvPr id="119" name="Google Shape;119;p17"/>
          <p:cNvSpPr/>
          <p:nvPr/>
        </p:nvSpPr>
        <p:spPr>
          <a:xfrm>
            <a:off x="228957" y="2311003"/>
            <a:ext cx="8686200" cy="8229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8FAFC"/>
              </a:buClr>
              <a:buSzPts val="4500"/>
              <a:buFont typeface="Exo 2"/>
              <a:buNone/>
            </a:pPr>
            <a:r>
              <a:rPr b="1" lang="en-US" sz="3300">
                <a:solidFill>
                  <a:srgbClr val="F8FAFC"/>
                </a:solidFill>
                <a:latin typeface="Exo 2"/>
                <a:ea typeface="Exo 2"/>
                <a:cs typeface="Exo 2"/>
                <a:sym typeface="Exo 2"/>
              </a:rPr>
              <a:t>Computing for Medicine Starts with Data</a:t>
            </a:r>
            <a:endParaRPr b="1" sz="3300">
              <a:solidFill>
                <a:srgbClr val="F8FAFC"/>
              </a:solidFill>
              <a:latin typeface="Exo 2"/>
              <a:ea typeface="Exo 2"/>
              <a:cs typeface="Exo 2"/>
              <a:sym typeface="Exo 2"/>
            </a:endParaRPr>
          </a:p>
          <a:p>
            <a:pPr indent="0" lvl="0" marL="0" marR="0" rtl="0" algn="ctr">
              <a:lnSpc>
                <a:spcPct val="120000"/>
              </a:lnSpc>
              <a:spcBef>
                <a:spcPts val="0"/>
              </a:spcBef>
              <a:spcAft>
                <a:spcPts val="0"/>
              </a:spcAft>
              <a:buClr>
                <a:srgbClr val="F8FAFC"/>
              </a:buClr>
              <a:buSzPts val="4500"/>
              <a:buFont typeface="Exo 2"/>
              <a:buNone/>
            </a:pPr>
            <a:r>
              <a:rPr b="1" i="0" lang="en-US" sz="4500" u="none" cap="none">
                <a:solidFill>
                  <a:srgbClr val="F8FAFC"/>
                </a:solidFill>
                <a:latin typeface="Exo 2"/>
                <a:ea typeface="Exo 2"/>
                <a:cs typeface="Exo 2"/>
                <a:sym typeface="Exo 2"/>
              </a:rPr>
              <a:t>Open discussion </a:t>
            </a:r>
            <a:endParaRPr b="1" i="0" sz="4500" u="none" cap="none">
              <a:solidFill>
                <a:srgbClr val="F8FAFC"/>
              </a:solidFill>
              <a:latin typeface="Exo 2"/>
              <a:ea typeface="Exo 2"/>
              <a:cs typeface="Exo 2"/>
              <a:sym typeface="Exo 2"/>
            </a:endParaRPr>
          </a:p>
          <a:p>
            <a:pPr indent="0" lvl="0" marL="0" marR="0" rtl="0" algn="ctr">
              <a:lnSpc>
                <a:spcPct val="120000"/>
              </a:lnSpc>
              <a:spcBef>
                <a:spcPts val="0"/>
              </a:spcBef>
              <a:spcAft>
                <a:spcPts val="0"/>
              </a:spcAft>
              <a:buClr>
                <a:srgbClr val="F8FAFC"/>
              </a:buClr>
              <a:buSzPts val="4500"/>
              <a:buFont typeface="Exo 2"/>
              <a:buNone/>
            </a:pPr>
            <a:r>
              <a:rPr b="1" lang="en-US" sz="3300">
                <a:solidFill>
                  <a:srgbClr val="F8FAFC"/>
                </a:solidFill>
                <a:latin typeface="Exo 2"/>
                <a:ea typeface="Exo 2"/>
                <a:cs typeface="Exo 2"/>
                <a:sym typeface="Exo 2"/>
              </a:rPr>
              <a:t>5 Minutes</a:t>
            </a:r>
            <a:endParaRPr b="1" sz="3300">
              <a:solidFill>
                <a:srgbClr val="F8FAFC"/>
              </a:solidFill>
              <a:latin typeface="Exo 2"/>
              <a:ea typeface="Exo 2"/>
              <a:cs typeface="Exo 2"/>
              <a:sym typeface="Exo 2"/>
            </a:endParaRPr>
          </a:p>
          <a:p>
            <a:pPr indent="0" lvl="0" marL="0" rtl="0" algn="ctr">
              <a:spcBef>
                <a:spcPts val="0"/>
              </a:spcBef>
              <a:spcAft>
                <a:spcPts val="0"/>
              </a:spcAft>
              <a:buClr>
                <a:schemeClr val="dk1"/>
              </a:buClr>
              <a:buFont typeface="Arial"/>
              <a:buNone/>
            </a:pPr>
            <a:r>
              <a:rPr lang="en-US" sz="2400">
                <a:solidFill>
                  <a:schemeClr val="lt1"/>
                </a:solidFill>
                <a:latin typeface="Libre Franklin"/>
                <a:ea typeface="Libre Franklin"/>
                <a:cs typeface="Libre Franklin"/>
                <a:sym typeface="Libre Franklin"/>
              </a:rPr>
              <a:t>What are the Types of Health Data?</a:t>
            </a:r>
            <a:endParaRPr>
              <a:solidFill>
                <a:schemeClr val="lt1"/>
              </a:solidFill>
            </a:endParaRPr>
          </a:p>
          <a:p>
            <a:pPr indent="0" lvl="0" marL="0" marR="0" rtl="0" algn="ctr">
              <a:lnSpc>
                <a:spcPct val="120000"/>
              </a:lnSpc>
              <a:spcBef>
                <a:spcPts val="0"/>
              </a:spcBef>
              <a:spcAft>
                <a:spcPts val="0"/>
              </a:spcAft>
              <a:buClr>
                <a:srgbClr val="F8FAFC"/>
              </a:buClr>
              <a:buSzPts val="4500"/>
              <a:buFont typeface="Exo 2"/>
              <a:buNone/>
            </a:pPr>
            <a:r>
              <a:t/>
            </a:r>
            <a:endParaRPr b="1" sz="4500">
              <a:solidFill>
                <a:srgbClr val="F8FAFC"/>
              </a:solidFill>
              <a:latin typeface="Exo 2"/>
              <a:ea typeface="Exo 2"/>
              <a:cs typeface="Exo 2"/>
              <a:sym typeface="Exo 2"/>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18"/>
          <p:cNvPicPr preferRelativeResize="0"/>
          <p:nvPr/>
        </p:nvPicPr>
        <p:blipFill rotWithShape="1">
          <a:blip r:embed="rId3">
            <a:alphaModFix/>
          </a:blip>
          <a:srcRect b="17033" l="69101" r="0" t="48438"/>
          <a:stretch/>
        </p:blipFill>
        <p:spPr>
          <a:xfrm>
            <a:off x="4734000" y="1440200"/>
            <a:ext cx="4070374" cy="2263125"/>
          </a:xfrm>
          <a:prstGeom prst="rect">
            <a:avLst/>
          </a:prstGeom>
          <a:noFill/>
          <a:ln>
            <a:noFill/>
          </a:ln>
        </p:spPr>
      </p:pic>
      <p:pic>
        <p:nvPicPr>
          <p:cNvPr id="126" name="Google Shape;126;p18"/>
          <p:cNvPicPr preferRelativeResize="0"/>
          <p:nvPr/>
        </p:nvPicPr>
        <p:blipFill>
          <a:blip r:embed="rId4">
            <a:alphaModFix/>
          </a:blip>
          <a:stretch>
            <a:fillRect/>
          </a:stretch>
        </p:blipFill>
        <p:spPr>
          <a:xfrm>
            <a:off x="152400" y="152400"/>
            <a:ext cx="4620999" cy="48441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9"/>
          <p:cNvPicPr preferRelativeResize="0"/>
          <p:nvPr/>
        </p:nvPicPr>
        <p:blipFill>
          <a:blip r:embed="rId3">
            <a:alphaModFix/>
          </a:blip>
          <a:stretch>
            <a:fillRect/>
          </a:stretch>
        </p:blipFill>
        <p:spPr>
          <a:xfrm>
            <a:off x="3033900" y="152400"/>
            <a:ext cx="3076207" cy="48387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0"/>
          <p:cNvPicPr preferRelativeResize="0"/>
          <p:nvPr/>
        </p:nvPicPr>
        <p:blipFill>
          <a:blip r:embed="rId3">
            <a:alphaModFix/>
          </a:blip>
          <a:stretch>
            <a:fillRect/>
          </a:stretch>
        </p:blipFill>
        <p:spPr>
          <a:xfrm>
            <a:off x="152400" y="152400"/>
            <a:ext cx="8839204" cy="438075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1"/>
          <p:cNvPicPr preferRelativeResize="0"/>
          <p:nvPr/>
        </p:nvPicPr>
        <p:blipFill>
          <a:blip r:embed="rId3">
            <a:alphaModFix/>
          </a:blip>
          <a:stretch>
            <a:fillRect/>
          </a:stretch>
        </p:blipFill>
        <p:spPr>
          <a:xfrm>
            <a:off x="152400" y="152400"/>
            <a:ext cx="8839204" cy="43807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2"/>
          <p:cNvPicPr preferRelativeResize="0"/>
          <p:nvPr/>
        </p:nvPicPr>
        <p:blipFill>
          <a:blip r:embed="rId3">
            <a:alphaModFix/>
          </a:blip>
          <a:stretch>
            <a:fillRect/>
          </a:stretch>
        </p:blipFill>
        <p:spPr>
          <a:xfrm>
            <a:off x="152400" y="152400"/>
            <a:ext cx="8839204" cy="438075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pic>
        <p:nvPicPr>
          <p:cNvPr id="156" name="Google Shape;156;p23"/>
          <p:cNvPicPr preferRelativeResize="0"/>
          <p:nvPr/>
        </p:nvPicPr>
        <p:blipFill rotWithShape="1">
          <a:blip r:embed="rId3">
            <a:alphaModFix/>
          </a:blip>
          <a:srcRect b="0" l="0" r="0" t="8559"/>
          <a:stretch/>
        </p:blipFill>
        <p:spPr>
          <a:xfrm>
            <a:off x="610438" y="862575"/>
            <a:ext cx="6902138" cy="4125775"/>
          </a:xfrm>
          <a:prstGeom prst="rect">
            <a:avLst/>
          </a:prstGeom>
          <a:noFill/>
          <a:ln>
            <a:noFill/>
          </a:ln>
        </p:spPr>
      </p:pic>
      <p:cxnSp>
        <p:nvCxnSpPr>
          <p:cNvPr id="157" name="Google Shape;157;p23"/>
          <p:cNvCxnSpPr/>
          <p:nvPr/>
        </p:nvCxnSpPr>
        <p:spPr>
          <a:xfrm>
            <a:off x="214432" y="590550"/>
            <a:ext cx="8686800" cy="0"/>
          </a:xfrm>
          <a:prstGeom prst="straightConnector1">
            <a:avLst/>
          </a:prstGeom>
          <a:noFill/>
          <a:ln cap="flat" cmpd="sng" w="19050">
            <a:solidFill>
              <a:srgbClr val="003399"/>
            </a:solidFill>
            <a:prstDash val="solid"/>
            <a:round/>
            <a:headEnd len="sm" w="sm" type="none"/>
            <a:tailEnd len="sm" w="sm" type="none"/>
          </a:ln>
        </p:spPr>
      </p:cxnSp>
      <p:sp>
        <p:nvSpPr>
          <p:cNvPr id="158" name="Google Shape;158;p23"/>
          <p:cNvSpPr/>
          <p:nvPr/>
        </p:nvSpPr>
        <p:spPr>
          <a:xfrm>
            <a:off x="62032" y="69673"/>
            <a:ext cx="8991600" cy="461700"/>
          </a:xfrm>
          <a:prstGeom prst="rect">
            <a:avLst/>
          </a:prstGeom>
          <a:noFill/>
          <a:ln>
            <a:noFill/>
          </a:ln>
        </p:spPr>
        <p:txBody>
          <a:bodyPr anchorCtr="0" anchor="t" bIns="45700" lIns="91425" spcFirstLastPara="1" rIns="0" wrap="square" tIns="45700">
            <a:noAutofit/>
          </a:bodyPr>
          <a:lstStyle/>
          <a:p>
            <a:pPr indent="0" lvl="0" marL="0" marR="0" rtl="0" algn="ctr">
              <a:spcBef>
                <a:spcPts val="0"/>
              </a:spcBef>
              <a:spcAft>
                <a:spcPts val="0"/>
              </a:spcAft>
              <a:buNone/>
            </a:pPr>
            <a:r>
              <a:rPr lang="en-US" sz="2400">
                <a:solidFill>
                  <a:srgbClr val="003399"/>
                </a:solidFill>
                <a:latin typeface="Libre Franklin"/>
                <a:ea typeface="Libre Franklin"/>
                <a:cs typeface="Libre Franklin"/>
                <a:sym typeface="Libre Franklin"/>
              </a:rPr>
              <a:t>Making Healthcare Data Science Reproducible and FAIR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4"/>
          <p:cNvPicPr preferRelativeResize="0"/>
          <p:nvPr/>
        </p:nvPicPr>
        <p:blipFill>
          <a:blip r:embed="rId3">
            <a:alphaModFix/>
          </a:blip>
          <a:stretch>
            <a:fillRect/>
          </a:stretch>
        </p:blipFill>
        <p:spPr>
          <a:xfrm>
            <a:off x="152400" y="76200"/>
            <a:ext cx="8839204" cy="4695827"/>
          </a:xfrm>
          <a:prstGeom prst="rect">
            <a:avLst/>
          </a:prstGeom>
          <a:noFill/>
          <a:ln>
            <a:noFill/>
          </a:ln>
        </p:spPr>
      </p:pic>
      <p:sp>
        <p:nvSpPr>
          <p:cNvPr id="164" name="Google Shape;164;p24"/>
          <p:cNvSpPr txBox="1"/>
          <p:nvPr/>
        </p:nvSpPr>
        <p:spPr>
          <a:xfrm>
            <a:off x="152400" y="4743300"/>
            <a:ext cx="8991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t>https://zenodo.org/search?q=coronavirus&amp;f=subject%3ACOVID-19&amp;l=list&amp;p=1&amp;s=10&amp;sort=mostviewed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342900" y="205978"/>
            <a:ext cx="6172200" cy="857400"/>
          </a:xfrm>
          <a:prstGeom prst="rect">
            <a:avLst/>
          </a:prstGeom>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US" sz="3900"/>
              <a:t>SAFE-ICU a TavLab-AIIMS Initiative</a:t>
            </a:r>
            <a:endParaRPr sz="3900"/>
          </a:p>
        </p:txBody>
      </p:sp>
      <p:pic>
        <p:nvPicPr>
          <p:cNvPr id="170" name="Google Shape;170;p25"/>
          <p:cNvPicPr preferRelativeResize="0"/>
          <p:nvPr/>
        </p:nvPicPr>
        <p:blipFill>
          <a:blip r:embed="rId3">
            <a:alphaModFix/>
          </a:blip>
          <a:stretch>
            <a:fillRect/>
          </a:stretch>
        </p:blipFill>
        <p:spPr>
          <a:xfrm>
            <a:off x="4756550" y="1080675"/>
            <a:ext cx="4129252" cy="3649700"/>
          </a:xfrm>
          <a:prstGeom prst="rect">
            <a:avLst/>
          </a:prstGeom>
          <a:noFill/>
          <a:ln>
            <a:noFill/>
          </a:ln>
        </p:spPr>
      </p:pic>
      <p:pic>
        <p:nvPicPr>
          <p:cNvPr id="171" name="Google Shape;171;p25"/>
          <p:cNvPicPr preferRelativeResize="0"/>
          <p:nvPr/>
        </p:nvPicPr>
        <p:blipFill>
          <a:blip r:embed="rId4">
            <a:alphaModFix/>
          </a:blip>
          <a:stretch>
            <a:fillRect/>
          </a:stretch>
        </p:blipFill>
        <p:spPr>
          <a:xfrm>
            <a:off x="152400" y="1151900"/>
            <a:ext cx="4419601" cy="3544360"/>
          </a:xfrm>
          <a:prstGeom prst="rect">
            <a:avLst/>
          </a:prstGeom>
          <a:noFill/>
          <a:ln>
            <a:noFill/>
          </a:ln>
        </p:spPr>
      </p:pic>
      <p:sp>
        <p:nvSpPr>
          <p:cNvPr id="172" name="Google Shape;172;p25"/>
          <p:cNvSpPr txBox="1"/>
          <p:nvPr/>
        </p:nvSpPr>
        <p:spPr>
          <a:xfrm>
            <a:off x="251450" y="4696250"/>
            <a:ext cx="8549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u="sng">
                <a:solidFill>
                  <a:schemeClr val="hlink"/>
                </a:solidFill>
                <a:hlinkClick r:id="rId5"/>
              </a:rPr>
              <a:t>https://safeicu.aiims.edu.in/project/safeicu/</a:t>
            </a:r>
            <a:r>
              <a:rPr lang="en-US"/>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6"/>
          <p:cNvPicPr preferRelativeResize="0"/>
          <p:nvPr/>
        </p:nvPicPr>
        <p:blipFill rotWithShape="1">
          <a:blip r:embed="rId3">
            <a:alphaModFix/>
          </a:blip>
          <a:srcRect b="4022" l="951" r="0" t="0"/>
          <a:stretch/>
        </p:blipFill>
        <p:spPr>
          <a:xfrm>
            <a:off x="236875" y="229800"/>
            <a:ext cx="8754724" cy="4304274"/>
          </a:xfrm>
          <a:prstGeom prst="rect">
            <a:avLst/>
          </a:prstGeom>
          <a:noFill/>
          <a:ln>
            <a:noFill/>
          </a:ln>
        </p:spPr>
      </p:pic>
      <p:sp>
        <p:nvSpPr>
          <p:cNvPr id="178" name="Google Shape;178;p26"/>
          <p:cNvSpPr txBox="1"/>
          <p:nvPr/>
        </p:nvSpPr>
        <p:spPr>
          <a:xfrm>
            <a:off x="26100" y="4714450"/>
            <a:ext cx="9091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t>https://browse.welch.jhmi.edu/datasets/ehr-databases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sp>
        <p:nvSpPr>
          <p:cNvPr id="184" name="Google Shape;184;p27"/>
          <p:cNvSpPr txBox="1"/>
          <p:nvPr/>
        </p:nvSpPr>
        <p:spPr>
          <a:xfrm>
            <a:off x="-36150" y="4703625"/>
            <a:ext cx="921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t>https://browse.welch.jhmi.edu/datasets/nih-data-repositories</a:t>
            </a:r>
            <a:endParaRPr/>
          </a:p>
        </p:txBody>
      </p:sp>
      <p:pic>
        <p:nvPicPr>
          <p:cNvPr id="185" name="Google Shape;185;p27"/>
          <p:cNvPicPr preferRelativeResize="0"/>
          <p:nvPr/>
        </p:nvPicPr>
        <p:blipFill>
          <a:blip r:embed="rId3">
            <a:alphaModFix/>
          </a:blip>
          <a:stretch>
            <a:fillRect/>
          </a:stretch>
        </p:blipFill>
        <p:spPr>
          <a:xfrm>
            <a:off x="152400" y="489275"/>
            <a:ext cx="8839204" cy="41649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8"/>
          <p:cNvPicPr preferRelativeResize="0"/>
          <p:nvPr/>
        </p:nvPicPr>
        <p:blipFill>
          <a:blip r:embed="rId3">
            <a:alphaModFix/>
          </a:blip>
          <a:stretch>
            <a:fillRect/>
          </a:stretch>
        </p:blipFill>
        <p:spPr>
          <a:xfrm>
            <a:off x="978013" y="152400"/>
            <a:ext cx="7187983"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idx="1" type="body"/>
          </p:nvPr>
        </p:nvSpPr>
        <p:spPr>
          <a:xfrm>
            <a:off x="311700" y="863550"/>
            <a:ext cx="8520600" cy="3416400"/>
          </a:xfrm>
          <a:prstGeom prst="rect">
            <a:avLst/>
          </a:prstGeom>
        </p:spPr>
        <p:txBody>
          <a:bodyPr anchorCtr="0" anchor="t" bIns="34275" lIns="68575" spcFirstLastPara="1" rIns="68575" wrap="square" tIns="34275">
            <a:noAutofit/>
          </a:bodyPr>
          <a:lstStyle/>
          <a:p>
            <a:pPr indent="-333375" lvl="0" marL="457200" rtl="0" algn="l">
              <a:lnSpc>
                <a:spcPct val="80000"/>
              </a:lnSpc>
              <a:spcBef>
                <a:spcPts val="500"/>
              </a:spcBef>
              <a:spcAft>
                <a:spcPts val="0"/>
              </a:spcAft>
              <a:buClr>
                <a:srgbClr val="004354"/>
              </a:buClr>
              <a:buSzPts val="1650"/>
              <a:buChar char="•"/>
            </a:pPr>
            <a:r>
              <a:rPr lang="en-US" sz="1650">
                <a:solidFill>
                  <a:srgbClr val="006C87"/>
                </a:solidFill>
                <a:highlight>
                  <a:srgbClr val="FFFFFF"/>
                </a:highlight>
                <a:uFill>
                  <a:noFill/>
                </a:uFill>
                <a:hlinkClick r:id="rId3">
                  <a:extLst>
                    <a:ext uri="{A12FA001-AC4F-418D-AE19-62706E023703}">
                      <ahyp:hlinkClr val="tx"/>
                    </a:ext>
                  </a:extLst>
                </a:hlinkClick>
              </a:rPr>
              <a:t>4CE: Consortium for Clinical Characterization of COVID-19 by EHR</a:t>
            </a:r>
            <a:endParaRPr sz="3500"/>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4">
                  <a:extLst>
                    <a:ext uri="{A12FA001-AC4F-418D-AE19-62706E023703}">
                      <ahyp:hlinkClr val="tx"/>
                    </a:ext>
                  </a:extLst>
                </a:hlinkClick>
              </a:rPr>
              <a:t>Figshare: COVID-19 open data</a:t>
            </a:r>
            <a:endParaRPr sz="1650">
              <a:solidFill>
                <a:srgbClr val="006C87"/>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5">
                  <a:extLst>
                    <a:ext uri="{A12FA001-AC4F-418D-AE19-62706E023703}">
                      <ahyp:hlinkClr val="tx"/>
                    </a:ext>
                  </a:extLst>
                </a:hlinkClick>
              </a:rPr>
              <a:t>GitHub: COVID-19 Open Repo Data</a:t>
            </a:r>
            <a:endParaRPr sz="1650">
              <a:solidFill>
                <a:srgbClr val="006C87"/>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6">
                  <a:extLst>
                    <a:ext uri="{A12FA001-AC4F-418D-AE19-62706E023703}">
                      <ahyp:hlinkClr val="tx"/>
                    </a:ext>
                  </a:extLst>
                </a:hlinkClick>
              </a:rPr>
              <a:t>Harvard Dataverse: COVID-19 Data</a:t>
            </a:r>
            <a:endParaRPr sz="1650">
              <a:solidFill>
                <a:srgbClr val="006C87"/>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7">
                  <a:extLst>
                    <a:ext uri="{A12FA001-AC4F-418D-AE19-62706E023703}">
                      <ahyp:hlinkClr val="tx"/>
                    </a:ext>
                  </a:extLst>
                </a:hlinkClick>
              </a:rPr>
              <a:t>ICPSR: COVID-19 Data Repoasitory</a:t>
            </a:r>
            <a:endParaRPr sz="1650">
              <a:solidFill>
                <a:srgbClr val="006C87"/>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8">
                  <a:extLst>
                    <a:ext uri="{A12FA001-AC4F-418D-AE19-62706E023703}">
                      <ahyp:hlinkClr val="tx"/>
                    </a:ext>
                  </a:extLst>
                </a:hlinkClick>
              </a:rPr>
              <a:t>ImmPort: COVID 19</a:t>
            </a:r>
            <a:endParaRPr sz="3500"/>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9">
                  <a:extLst>
                    <a:ext uri="{A12FA001-AC4F-418D-AE19-62706E023703}">
                      <ahyp:hlinkClr val="tx"/>
                    </a:ext>
                  </a:extLst>
                </a:hlinkClick>
              </a:rPr>
              <a:t>Mendeley Data: Elsevier COVID-19 Research Environment</a:t>
            </a:r>
            <a:endParaRPr sz="1650">
              <a:solidFill>
                <a:srgbClr val="006C87"/>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10">
                  <a:extLst>
                    <a:ext uri="{A12FA001-AC4F-418D-AE19-62706E023703}">
                      <ahyp:hlinkClr val="tx"/>
                    </a:ext>
                  </a:extLst>
                </a:hlinkClick>
              </a:rPr>
              <a:t>National COVID Cohort Collaborative (N3C)</a:t>
            </a:r>
            <a:br>
              <a:rPr lang="en-US" sz="1650">
                <a:solidFill>
                  <a:srgbClr val="006C87"/>
                </a:solidFill>
                <a:highlight>
                  <a:srgbClr val="FFFFFF"/>
                </a:highlight>
                <a:uFill>
                  <a:noFill/>
                </a:uFill>
                <a:hlinkClick r:id="rId11">
                  <a:extLst>
                    <a:ext uri="{A12FA001-AC4F-418D-AE19-62706E023703}">
                      <ahyp:hlinkClr val="tx"/>
                    </a:ext>
                  </a:extLst>
                </a:hlinkClick>
              </a:rPr>
            </a:br>
            <a:r>
              <a:rPr lang="en-US" sz="1650">
                <a:solidFill>
                  <a:srgbClr val="006C87"/>
                </a:solidFill>
                <a:highlight>
                  <a:srgbClr val="FFFFFF"/>
                </a:highlight>
                <a:uFill>
                  <a:noFill/>
                </a:uFill>
                <a:hlinkClick r:id="rId12">
                  <a:extLst>
                    <a:ext uri="{A12FA001-AC4F-418D-AE19-62706E023703}">
                      <ahyp:hlinkClr val="tx"/>
                    </a:ext>
                  </a:extLst>
                </a:hlinkClick>
              </a:rPr>
              <a:t>OHDSI: Characterizing Health Associated Risks, and Your Baseline Disease In SARS-COV-2 (CHARYBDIS)</a:t>
            </a:r>
            <a:endParaRPr sz="1650">
              <a:solidFill>
                <a:srgbClr val="006C87"/>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13">
                  <a:extLst>
                    <a:ext uri="{A12FA001-AC4F-418D-AE19-62706E023703}">
                      <ahyp:hlinkClr val="tx"/>
                    </a:ext>
                  </a:extLst>
                </a:hlinkClick>
              </a:rPr>
              <a:t>Open-Access Data and Computational Resources to Address COVID-19</a:t>
            </a:r>
            <a:r>
              <a:rPr lang="en-US" sz="1650">
                <a:solidFill>
                  <a:srgbClr val="004354"/>
                </a:solidFill>
                <a:highlight>
                  <a:srgbClr val="FFFFFF"/>
                </a:highlight>
              </a:rPr>
              <a:t>.</a:t>
            </a:r>
            <a:endParaRPr sz="1650">
              <a:solidFill>
                <a:srgbClr val="004354"/>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14">
                  <a:extLst>
                    <a:ext uri="{A12FA001-AC4F-418D-AE19-62706E023703}">
                      <ahyp:hlinkClr val="tx"/>
                    </a:ext>
                  </a:extLst>
                </a:hlinkClick>
              </a:rPr>
              <a:t>OpenSAFELY</a:t>
            </a:r>
            <a:br>
              <a:rPr lang="en-US" sz="1650">
                <a:solidFill>
                  <a:srgbClr val="006C87"/>
                </a:solidFill>
                <a:highlight>
                  <a:srgbClr val="FFFFFF"/>
                </a:highlight>
                <a:uFill>
                  <a:noFill/>
                </a:uFill>
                <a:hlinkClick r:id="rId15">
                  <a:extLst>
                    <a:ext uri="{A12FA001-AC4F-418D-AE19-62706E023703}">
                      <ahyp:hlinkClr val="tx"/>
                    </a:ext>
                  </a:extLst>
                </a:hlinkClick>
              </a:rPr>
            </a:br>
            <a:r>
              <a:rPr lang="en-US" sz="1650">
                <a:solidFill>
                  <a:srgbClr val="006C87"/>
                </a:solidFill>
                <a:highlight>
                  <a:srgbClr val="FFFFFF"/>
                </a:highlight>
                <a:uFill>
                  <a:noFill/>
                </a:uFill>
                <a:hlinkClick r:id="rId16">
                  <a:extLst>
                    <a:ext uri="{A12FA001-AC4F-418D-AE19-62706E023703}">
                      <ahyp:hlinkClr val="tx"/>
                    </a:ext>
                  </a:extLst>
                </a:hlinkClick>
              </a:rPr>
              <a:t>Tableau: COVID-19 Data Hub</a:t>
            </a:r>
            <a:endParaRPr sz="1650">
              <a:solidFill>
                <a:srgbClr val="006C87"/>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17">
                  <a:extLst>
                    <a:ext uri="{A12FA001-AC4F-418D-AE19-62706E023703}">
                      <ahyp:hlinkClr val="tx"/>
                    </a:ext>
                  </a:extLst>
                </a:hlinkClick>
              </a:rPr>
              <a:t>Vivli: Covid data</a:t>
            </a:r>
            <a:br>
              <a:rPr lang="en-US" sz="1650">
                <a:solidFill>
                  <a:srgbClr val="006C87"/>
                </a:solidFill>
                <a:highlight>
                  <a:srgbClr val="FFFFFF"/>
                </a:highlight>
                <a:uFill>
                  <a:noFill/>
                </a:uFill>
                <a:hlinkClick r:id="rId18">
                  <a:extLst>
                    <a:ext uri="{A12FA001-AC4F-418D-AE19-62706E023703}">
                      <ahyp:hlinkClr val="tx"/>
                    </a:ext>
                  </a:extLst>
                </a:hlinkClick>
              </a:rPr>
            </a:br>
            <a:r>
              <a:rPr lang="en-US" sz="1650">
                <a:solidFill>
                  <a:srgbClr val="006C87"/>
                </a:solidFill>
                <a:highlight>
                  <a:srgbClr val="FFFFFF"/>
                </a:highlight>
                <a:uFill>
                  <a:noFill/>
                </a:uFill>
                <a:hlinkClick r:id="rId19">
                  <a:extLst>
                    <a:ext uri="{A12FA001-AC4F-418D-AE19-62706E023703}">
                      <ahyp:hlinkClr val="tx"/>
                    </a:ext>
                  </a:extLst>
                </a:hlinkClick>
              </a:rPr>
              <a:t>Zenodo: Coronavirus Disease Research Community - COVID-19</a:t>
            </a:r>
            <a:endParaRPr sz="1650">
              <a:solidFill>
                <a:srgbClr val="006C87"/>
              </a:solidFill>
              <a:highlight>
                <a:srgbClr val="FFFFFF"/>
              </a:highlight>
            </a:endParaRPr>
          </a:p>
          <a:p>
            <a:pPr indent="-333375" lvl="0" marL="457200" rtl="0" algn="l">
              <a:lnSpc>
                <a:spcPct val="80000"/>
              </a:lnSpc>
              <a:spcBef>
                <a:spcPts val="0"/>
              </a:spcBef>
              <a:spcAft>
                <a:spcPts val="0"/>
              </a:spcAft>
              <a:buClr>
                <a:srgbClr val="004354"/>
              </a:buClr>
              <a:buSzPts val="1650"/>
              <a:buChar char="•"/>
            </a:pPr>
            <a:r>
              <a:rPr lang="en-US" sz="1650">
                <a:solidFill>
                  <a:srgbClr val="006C87"/>
                </a:solidFill>
                <a:highlight>
                  <a:srgbClr val="FFFFFF"/>
                </a:highlight>
                <a:uFill>
                  <a:noFill/>
                </a:uFill>
                <a:hlinkClick r:id="rId20">
                  <a:extLst>
                    <a:ext uri="{A12FA001-AC4F-418D-AE19-62706E023703}">
                      <ahyp:hlinkClr val="tx"/>
                    </a:ext>
                  </a:extLst>
                </a:hlinkClick>
              </a:rPr>
              <a:t>COVID-19 Research Database</a:t>
            </a:r>
            <a:endParaRPr sz="1650">
              <a:solidFill>
                <a:srgbClr val="006C87"/>
              </a:solidFill>
              <a:highlight>
                <a:srgbClr val="FFFFFF"/>
              </a:highlight>
            </a:endParaRPr>
          </a:p>
          <a:p>
            <a:pPr indent="0" lvl="0" marL="0" rtl="0" algn="l">
              <a:lnSpc>
                <a:spcPct val="80000"/>
              </a:lnSpc>
              <a:spcBef>
                <a:spcPts val="800"/>
              </a:spcBef>
              <a:spcAft>
                <a:spcPts val="0"/>
              </a:spcAft>
              <a:buNone/>
            </a:pPr>
            <a:r>
              <a:t/>
            </a:r>
            <a:endParaRPr sz="3300"/>
          </a:p>
        </p:txBody>
      </p:sp>
      <p:sp>
        <p:nvSpPr>
          <p:cNvPr id="196" name="Google Shape;196;p29"/>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cxnSp>
        <p:nvCxnSpPr>
          <p:cNvPr id="197" name="Google Shape;197;p29"/>
          <p:cNvCxnSpPr/>
          <p:nvPr/>
        </p:nvCxnSpPr>
        <p:spPr>
          <a:xfrm>
            <a:off x="214432" y="590550"/>
            <a:ext cx="8686800" cy="0"/>
          </a:xfrm>
          <a:prstGeom prst="straightConnector1">
            <a:avLst/>
          </a:prstGeom>
          <a:noFill/>
          <a:ln cap="flat" cmpd="sng" w="19050">
            <a:solidFill>
              <a:srgbClr val="003399"/>
            </a:solidFill>
            <a:prstDash val="solid"/>
            <a:round/>
            <a:headEnd len="sm" w="sm" type="none"/>
            <a:tailEnd len="sm" w="sm" type="none"/>
          </a:ln>
        </p:spPr>
      </p:cxnSp>
      <p:sp>
        <p:nvSpPr>
          <p:cNvPr id="198" name="Google Shape;198;p29"/>
          <p:cNvSpPr/>
          <p:nvPr/>
        </p:nvSpPr>
        <p:spPr>
          <a:xfrm>
            <a:off x="62032" y="69673"/>
            <a:ext cx="8991600" cy="461700"/>
          </a:xfrm>
          <a:prstGeom prst="rect">
            <a:avLst/>
          </a:prstGeom>
          <a:noFill/>
          <a:ln>
            <a:noFill/>
          </a:ln>
        </p:spPr>
        <p:txBody>
          <a:bodyPr anchorCtr="0" anchor="t" bIns="45700" lIns="91425" spcFirstLastPara="1" rIns="0" wrap="square" tIns="45700">
            <a:noAutofit/>
          </a:bodyPr>
          <a:lstStyle/>
          <a:p>
            <a:pPr indent="0" lvl="0" marL="0" marR="0" rtl="0" algn="ctr">
              <a:spcBef>
                <a:spcPts val="0"/>
              </a:spcBef>
              <a:spcAft>
                <a:spcPts val="0"/>
              </a:spcAft>
              <a:buNone/>
            </a:pPr>
            <a:r>
              <a:rPr lang="en-US" sz="2400">
                <a:solidFill>
                  <a:srgbClr val="003399"/>
                </a:solidFill>
                <a:latin typeface="Libre Franklin"/>
                <a:ea typeface="Libre Franklin"/>
                <a:cs typeface="Libre Franklin"/>
                <a:sym typeface="Libre Franklin"/>
              </a:rPr>
              <a:t>The Healthcare Data Revolution -&gt; Transformation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30"/>
          <p:cNvCxnSpPr/>
          <p:nvPr/>
        </p:nvCxnSpPr>
        <p:spPr>
          <a:xfrm>
            <a:off x="214432" y="590550"/>
            <a:ext cx="8686800" cy="0"/>
          </a:xfrm>
          <a:prstGeom prst="straightConnector1">
            <a:avLst/>
          </a:prstGeom>
          <a:noFill/>
          <a:ln cap="flat" cmpd="sng" w="19050">
            <a:solidFill>
              <a:srgbClr val="003399"/>
            </a:solidFill>
            <a:prstDash val="solid"/>
            <a:round/>
            <a:headEnd len="sm" w="sm" type="none"/>
            <a:tailEnd len="sm" w="sm" type="none"/>
          </a:ln>
        </p:spPr>
      </p:cxnSp>
      <p:sp>
        <p:nvSpPr>
          <p:cNvPr id="204" name="Google Shape;204;p30"/>
          <p:cNvSpPr txBox="1"/>
          <p:nvPr>
            <p:ph idx="12" type="sldNum"/>
          </p:nvPr>
        </p:nvSpPr>
        <p:spPr>
          <a:xfrm>
            <a:off x="6953901" y="4798484"/>
            <a:ext cx="21336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900"/>
              <a:buFont typeface="Calibri"/>
              <a:buNone/>
            </a:pPr>
            <a:fld id="{00000000-1234-1234-1234-123412341234}" type="slidenum">
              <a:rPr lang="en-US"/>
              <a:t>‹#›</a:t>
            </a:fld>
            <a:endParaRPr/>
          </a:p>
        </p:txBody>
      </p:sp>
      <p:sp>
        <p:nvSpPr>
          <p:cNvPr id="205" name="Google Shape;205;p30"/>
          <p:cNvSpPr/>
          <p:nvPr/>
        </p:nvSpPr>
        <p:spPr>
          <a:xfrm>
            <a:off x="62032" y="69673"/>
            <a:ext cx="8991600" cy="461700"/>
          </a:xfrm>
          <a:prstGeom prst="rect">
            <a:avLst/>
          </a:prstGeom>
          <a:noFill/>
          <a:ln>
            <a:noFill/>
          </a:ln>
        </p:spPr>
        <p:txBody>
          <a:bodyPr anchorCtr="0" anchor="t" bIns="45700" lIns="91425" spcFirstLastPara="1" rIns="0" wrap="square" tIns="45700">
            <a:noAutofit/>
          </a:bodyPr>
          <a:lstStyle/>
          <a:p>
            <a:pPr indent="0" lvl="0" marL="0" marR="0" rtl="0" algn="ctr">
              <a:spcBef>
                <a:spcPts val="0"/>
              </a:spcBef>
              <a:spcAft>
                <a:spcPts val="0"/>
              </a:spcAft>
              <a:buNone/>
            </a:pPr>
            <a:r>
              <a:rPr lang="en-US" sz="2400">
                <a:solidFill>
                  <a:srgbClr val="003399"/>
                </a:solidFill>
                <a:latin typeface="Libre Franklin"/>
                <a:ea typeface="Libre Franklin"/>
                <a:cs typeface="Libre Franklin"/>
                <a:sym typeface="Libre Franklin"/>
              </a:rPr>
              <a:t>Sources of Health Data</a:t>
            </a:r>
            <a:endParaRPr/>
          </a:p>
        </p:txBody>
      </p:sp>
      <p:pic>
        <p:nvPicPr>
          <p:cNvPr id="206" name="Google Shape;206;p30"/>
          <p:cNvPicPr preferRelativeResize="0"/>
          <p:nvPr/>
        </p:nvPicPr>
        <p:blipFill>
          <a:blip r:embed="rId3">
            <a:alphaModFix/>
          </a:blip>
          <a:stretch>
            <a:fillRect/>
          </a:stretch>
        </p:blipFill>
        <p:spPr>
          <a:xfrm>
            <a:off x="152400" y="951975"/>
            <a:ext cx="8839204" cy="403979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cxnSp>
        <p:nvCxnSpPr>
          <p:cNvPr id="211" name="Google Shape;211;p31"/>
          <p:cNvCxnSpPr/>
          <p:nvPr/>
        </p:nvCxnSpPr>
        <p:spPr>
          <a:xfrm>
            <a:off x="214432" y="590550"/>
            <a:ext cx="8686800" cy="0"/>
          </a:xfrm>
          <a:prstGeom prst="straightConnector1">
            <a:avLst/>
          </a:prstGeom>
          <a:noFill/>
          <a:ln cap="flat" cmpd="sng" w="19050">
            <a:solidFill>
              <a:srgbClr val="003399"/>
            </a:solidFill>
            <a:prstDash val="solid"/>
            <a:round/>
            <a:headEnd len="sm" w="sm" type="none"/>
            <a:tailEnd len="sm" w="sm" type="none"/>
          </a:ln>
        </p:spPr>
      </p:cxnSp>
      <p:sp>
        <p:nvSpPr>
          <p:cNvPr id="212" name="Google Shape;212;p31"/>
          <p:cNvSpPr txBox="1"/>
          <p:nvPr>
            <p:ph idx="12" type="sldNum"/>
          </p:nvPr>
        </p:nvSpPr>
        <p:spPr>
          <a:xfrm>
            <a:off x="6953901" y="4798484"/>
            <a:ext cx="21336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900"/>
              <a:buFont typeface="Calibri"/>
              <a:buNone/>
            </a:pPr>
            <a:fld id="{00000000-1234-1234-1234-123412341234}" type="slidenum">
              <a:rPr lang="en-US"/>
              <a:t>‹#›</a:t>
            </a:fld>
            <a:endParaRPr/>
          </a:p>
        </p:txBody>
      </p:sp>
      <p:sp>
        <p:nvSpPr>
          <p:cNvPr id="213" name="Google Shape;213;p31"/>
          <p:cNvSpPr/>
          <p:nvPr/>
        </p:nvSpPr>
        <p:spPr>
          <a:xfrm>
            <a:off x="62032" y="69673"/>
            <a:ext cx="8991600" cy="461700"/>
          </a:xfrm>
          <a:prstGeom prst="rect">
            <a:avLst/>
          </a:prstGeom>
          <a:noFill/>
          <a:ln>
            <a:noFill/>
          </a:ln>
        </p:spPr>
        <p:txBody>
          <a:bodyPr anchorCtr="0" anchor="t" bIns="45700" lIns="91425" spcFirstLastPara="1" rIns="0" wrap="square" tIns="45700">
            <a:noAutofit/>
          </a:bodyPr>
          <a:lstStyle/>
          <a:p>
            <a:pPr indent="0" lvl="0" marL="0" marR="0" rtl="0" algn="ctr">
              <a:spcBef>
                <a:spcPts val="0"/>
              </a:spcBef>
              <a:spcAft>
                <a:spcPts val="0"/>
              </a:spcAft>
              <a:buNone/>
            </a:pPr>
            <a:r>
              <a:rPr lang="en-US" sz="2400">
                <a:solidFill>
                  <a:srgbClr val="003399"/>
                </a:solidFill>
                <a:latin typeface="Libre Franklin"/>
                <a:ea typeface="Libre Franklin"/>
                <a:cs typeface="Libre Franklin"/>
                <a:sym typeface="Libre Franklin"/>
              </a:rPr>
              <a:t>Sources of Health Data</a:t>
            </a:r>
            <a:endParaRPr/>
          </a:p>
        </p:txBody>
      </p:sp>
      <p:pic>
        <p:nvPicPr>
          <p:cNvPr id="214" name="Google Shape;214;p31"/>
          <p:cNvPicPr preferRelativeResize="0"/>
          <p:nvPr/>
        </p:nvPicPr>
        <p:blipFill>
          <a:blip r:embed="rId3">
            <a:alphaModFix/>
          </a:blip>
          <a:stretch>
            <a:fillRect/>
          </a:stretch>
        </p:blipFill>
        <p:spPr>
          <a:xfrm>
            <a:off x="152400" y="683775"/>
            <a:ext cx="8512046" cy="4114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US" sz="1400">
                <a:solidFill>
                  <a:srgbClr val="1F1F1F"/>
                </a:solidFill>
                <a:highlight>
                  <a:srgbClr val="FFFFFF"/>
                </a:highlight>
              </a:rPr>
              <a:t> “Biology is the study of the complex things in the Universe. Physics is the study of the simple ones.” </a:t>
            </a:r>
            <a:endParaRPr sz="1400">
              <a:solidFill>
                <a:srgbClr val="1F1F1F"/>
              </a:solidFill>
              <a:highlight>
                <a:srgbClr val="FFFFFF"/>
              </a:highlight>
            </a:endParaRPr>
          </a:p>
          <a:p>
            <a:pPr indent="-304800" lvl="0" marL="457200" rtl="0" algn="ctr">
              <a:spcBef>
                <a:spcPts val="0"/>
              </a:spcBef>
              <a:spcAft>
                <a:spcPts val="0"/>
              </a:spcAft>
              <a:buClr>
                <a:srgbClr val="1F1F1F"/>
              </a:buClr>
              <a:buSzPts val="1200"/>
              <a:buChar char="-"/>
            </a:pPr>
            <a:r>
              <a:rPr lang="en-US" sz="1200">
                <a:solidFill>
                  <a:srgbClr val="1F1F1F"/>
                </a:solidFill>
                <a:highlight>
                  <a:srgbClr val="FFFFFF"/>
                </a:highlight>
              </a:rPr>
              <a:t>Richard Dawkins</a:t>
            </a:r>
            <a:endParaRPr sz="1400">
              <a:solidFill>
                <a:srgbClr val="1F1F1F"/>
              </a:solidFill>
              <a:highlight>
                <a:srgbClr val="FFFFFF"/>
              </a:highlight>
            </a:endParaRPr>
          </a:p>
        </p:txBody>
      </p:sp>
      <p:sp>
        <p:nvSpPr>
          <p:cNvPr id="220" name="Google Shape;220;p32"/>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pic>
        <p:nvPicPr>
          <p:cNvPr id="221" name="Google Shape;221;p32"/>
          <p:cNvPicPr preferRelativeResize="0"/>
          <p:nvPr/>
        </p:nvPicPr>
        <p:blipFill>
          <a:blip r:embed="rId3">
            <a:alphaModFix/>
          </a:blip>
          <a:stretch>
            <a:fillRect/>
          </a:stretch>
        </p:blipFill>
        <p:spPr>
          <a:xfrm>
            <a:off x="1015250" y="1170125"/>
            <a:ext cx="3195908" cy="3820976"/>
          </a:xfrm>
          <a:prstGeom prst="rect">
            <a:avLst/>
          </a:prstGeom>
          <a:noFill/>
          <a:ln>
            <a:noFill/>
          </a:ln>
        </p:spPr>
      </p:pic>
      <p:pic>
        <p:nvPicPr>
          <p:cNvPr id="222" name="Google Shape;222;p32"/>
          <p:cNvPicPr preferRelativeResize="0"/>
          <p:nvPr/>
        </p:nvPicPr>
        <p:blipFill>
          <a:blip r:embed="rId4">
            <a:alphaModFix/>
          </a:blip>
          <a:stretch>
            <a:fillRect/>
          </a:stretch>
        </p:blipFill>
        <p:spPr>
          <a:xfrm>
            <a:off x="4811783" y="1170125"/>
            <a:ext cx="3195908" cy="3820976"/>
          </a:xfrm>
          <a:prstGeom prst="rect">
            <a:avLst/>
          </a:prstGeom>
          <a:noFill/>
          <a:ln>
            <a:noFill/>
          </a:ln>
        </p:spPr>
      </p:pic>
      <p:sp>
        <p:nvSpPr>
          <p:cNvPr id="223" name="Google Shape;223;p32"/>
          <p:cNvSpPr/>
          <p:nvPr/>
        </p:nvSpPr>
        <p:spPr>
          <a:xfrm>
            <a:off x="62032" y="69673"/>
            <a:ext cx="8991600" cy="461700"/>
          </a:xfrm>
          <a:prstGeom prst="rect">
            <a:avLst/>
          </a:prstGeom>
          <a:noFill/>
          <a:ln>
            <a:noFill/>
          </a:ln>
        </p:spPr>
        <p:txBody>
          <a:bodyPr anchorCtr="0" anchor="t" bIns="45700" lIns="91425" spcFirstLastPara="1" rIns="0" wrap="square" tIns="45700">
            <a:noAutofit/>
          </a:bodyPr>
          <a:lstStyle/>
          <a:p>
            <a:pPr indent="0" lvl="0" marL="0" marR="0" rtl="0" algn="ctr">
              <a:spcBef>
                <a:spcPts val="0"/>
              </a:spcBef>
              <a:spcAft>
                <a:spcPts val="0"/>
              </a:spcAft>
              <a:buNone/>
            </a:pPr>
            <a:r>
              <a:rPr lang="en-US" sz="2400">
                <a:solidFill>
                  <a:srgbClr val="003399"/>
                </a:solidFill>
                <a:latin typeface="Libre Franklin"/>
                <a:ea typeface="Libre Franklin"/>
                <a:cs typeface="Libre Franklin"/>
                <a:sym typeface="Libre Franklin"/>
              </a:rPr>
              <a:t>How is Healthcare Different?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US"/>
              <a:t>Complexity of Health Systems</a:t>
            </a:r>
            <a:endParaRPr/>
          </a:p>
        </p:txBody>
      </p:sp>
      <p:sp>
        <p:nvSpPr>
          <p:cNvPr id="229" name="Google Shape;229;p33"/>
          <p:cNvSpPr txBox="1"/>
          <p:nvPr>
            <p:ph idx="1" type="body"/>
          </p:nvPr>
        </p:nvSpPr>
        <p:spPr>
          <a:xfrm>
            <a:off x="311700" y="1431700"/>
            <a:ext cx="4381200" cy="3345900"/>
          </a:xfrm>
          <a:prstGeom prst="rect">
            <a:avLst/>
          </a:prstGeom>
        </p:spPr>
        <p:txBody>
          <a:bodyPr anchorCtr="0" anchor="t" bIns="34275" lIns="68575" spcFirstLastPara="1" rIns="68575" wrap="square" tIns="34275">
            <a:normAutofit/>
          </a:bodyPr>
          <a:lstStyle/>
          <a:p>
            <a:pPr indent="0" lvl="0" marL="0" rtl="0" algn="l">
              <a:spcBef>
                <a:spcPts val="500"/>
              </a:spcBef>
              <a:spcAft>
                <a:spcPts val="0"/>
              </a:spcAft>
              <a:buNone/>
            </a:pPr>
            <a:r>
              <a:rPr b="1" lang="en-US"/>
              <a:t>Health Systems are:-</a:t>
            </a:r>
            <a:endParaRPr b="1"/>
          </a:p>
          <a:p>
            <a:pPr indent="-381000" lvl="0" marL="457200" rtl="0" algn="l">
              <a:spcBef>
                <a:spcPts val="500"/>
              </a:spcBef>
              <a:spcAft>
                <a:spcPts val="0"/>
              </a:spcAft>
              <a:buSzPts val="2400"/>
              <a:buChar char="•"/>
            </a:pPr>
            <a:r>
              <a:rPr lang="en-US"/>
              <a:t>Are not always optimized</a:t>
            </a:r>
            <a:endParaRPr/>
          </a:p>
          <a:p>
            <a:pPr indent="-381000" lvl="0" marL="457200" rtl="0" algn="l">
              <a:spcBef>
                <a:spcPts val="0"/>
              </a:spcBef>
              <a:spcAft>
                <a:spcPts val="0"/>
              </a:spcAft>
              <a:buSzPts val="2400"/>
              <a:buChar char="•"/>
            </a:pPr>
            <a:r>
              <a:rPr lang="en-US"/>
              <a:t>Exhibit Self Organizing behavior</a:t>
            </a:r>
            <a:endParaRPr/>
          </a:p>
          <a:p>
            <a:pPr indent="-381000" lvl="0" marL="457200" rtl="0" algn="l">
              <a:spcBef>
                <a:spcPts val="0"/>
              </a:spcBef>
              <a:spcAft>
                <a:spcPts val="0"/>
              </a:spcAft>
              <a:buSzPts val="2400"/>
              <a:buChar char="•"/>
            </a:pPr>
            <a:r>
              <a:rPr lang="en-US"/>
              <a:t>Are dynamically changing</a:t>
            </a:r>
            <a:endParaRPr/>
          </a:p>
          <a:p>
            <a:pPr indent="-381000" lvl="0" marL="457200" rtl="0" algn="l">
              <a:spcBef>
                <a:spcPts val="0"/>
              </a:spcBef>
              <a:spcAft>
                <a:spcPts val="0"/>
              </a:spcAft>
              <a:buSzPts val="2400"/>
              <a:buChar char="•"/>
            </a:pPr>
            <a:r>
              <a:rPr lang="en-US"/>
              <a:t>Are homeokinetic</a:t>
            </a:r>
            <a:endParaRPr/>
          </a:p>
          <a:p>
            <a:pPr indent="-381000" lvl="0" marL="457200" rtl="0" algn="l">
              <a:spcBef>
                <a:spcPts val="0"/>
              </a:spcBef>
              <a:spcAft>
                <a:spcPts val="0"/>
              </a:spcAft>
              <a:buSzPts val="2400"/>
              <a:buChar char="•"/>
            </a:pPr>
            <a:r>
              <a:rPr lang="en-US"/>
              <a:t>Operate far from equilibrium</a:t>
            </a:r>
            <a:endParaRPr/>
          </a:p>
          <a:p>
            <a:pPr indent="-381000" lvl="0" marL="457200" rtl="0" algn="l">
              <a:spcBef>
                <a:spcPts val="0"/>
              </a:spcBef>
              <a:spcAft>
                <a:spcPts val="0"/>
              </a:spcAft>
              <a:buSzPts val="2400"/>
              <a:buChar char="•"/>
            </a:pPr>
            <a:r>
              <a:rPr lang="en-US"/>
              <a:t>Unpredictably sensitive </a:t>
            </a:r>
            <a:endParaRPr/>
          </a:p>
        </p:txBody>
      </p:sp>
      <p:sp>
        <p:nvSpPr>
          <p:cNvPr id="230" name="Google Shape;230;p3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pic>
        <p:nvPicPr>
          <p:cNvPr id="231" name="Google Shape;231;p33"/>
          <p:cNvPicPr preferRelativeResize="0"/>
          <p:nvPr/>
        </p:nvPicPr>
        <p:blipFill>
          <a:blip r:embed="rId3">
            <a:alphaModFix/>
          </a:blip>
          <a:stretch>
            <a:fillRect/>
          </a:stretch>
        </p:blipFill>
        <p:spPr>
          <a:xfrm>
            <a:off x="4777725" y="1431695"/>
            <a:ext cx="4572001" cy="362512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36" name="Shape 236"/>
        <p:cNvGrpSpPr/>
        <p:nvPr/>
      </p:nvGrpSpPr>
      <p:grpSpPr>
        <a:xfrm>
          <a:off x="0" y="0"/>
          <a:ext cx="0" cy="0"/>
          <a:chOff x="0" y="0"/>
          <a:chExt cx="0" cy="0"/>
        </a:xfrm>
      </p:grpSpPr>
      <p:pic>
        <p:nvPicPr>
          <p:cNvPr descr="Guillermo Marin and colleagues' video was named the winner in the 2012 International Science and Engineering Visualization Challenge, hosted by Science Magazine and the U.S. National Science Foundation. The video is about a project to build and use a computational model of the heart.&#10;&#10;[Credit: Guillermo Marin, Fernando M. Cucchietti, Mariano Vázquez, Carlos Tripiana, Guillaume Houzeaux, Ruth Arís, Pierre Lafortune, and Jazmin Aguado-Sierra, Barcelona Supercomputing Center]&#10;&#10;Science (www.sciencemag.org) is the world's leading journal of original scientific research, global news, and commentary. For more original videos, check out the Science Video Portal (video.sciencemag.org)." id="237" name="Google Shape;237;p34" title="2012 Science &amp; Engineering Visualization Challenge: Alya Red -- A Computational Heart">
            <a:hlinkClick r:id="rId3"/>
          </p:cNvPr>
          <p:cNvPicPr preferRelativeResize="0"/>
          <p:nvPr/>
        </p:nvPicPr>
        <p:blipFill>
          <a:blip r:embed="rId4">
            <a:alphaModFix/>
          </a:blip>
          <a:stretch>
            <a:fillRect/>
          </a:stretch>
        </p:blipFill>
        <p:spPr>
          <a:xfrm>
            <a:off x="0" y="5"/>
            <a:ext cx="9144000" cy="51434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42" name="Shape 242"/>
        <p:cNvGrpSpPr/>
        <p:nvPr/>
      </p:nvGrpSpPr>
      <p:grpSpPr>
        <a:xfrm>
          <a:off x="0" y="0"/>
          <a:ext cx="0" cy="0"/>
          <a:chOff x="0" y="0"/>
          <a:chExt cx="0" cy="0"/>
        </a:xfrm>
      </p:grpSpPr>
      <p:pic>
        <p:nvPicPr>
          <p:cNvPr descr="Did you know that a perfectly regular heartbeat can be a warning sign? ❤️&#10;&#10;We usually think that a healthy heart should beat like a perfect clock.&#10;But real biology is far more fascinating.&#10;&#10;A healthy heart doesn’t beat with perfect precision — it fluctuates.&#10;&#10;And hidden inside those fluctuations is a beautiful mathematical structure: fractals.&#10;&#10;In this video, you’ll discover:&#10;&#10;✔ what Heart Rate Variability (HRV) really is&#10;✔ why healthy hearts are naturally irregular&#10;✔ how fractals appear in biological systems&#10;✔ why chaos is essential for life&#10;✔ how mathematics helps detect heart disease&#10;✔ how smartwatches analyze your heartbeat using nonlinear math&#10;&#10;You’ll learn how fractal geometry, chaos theory, and nonlinear dynamics reveal one of the deepest secrets of life.&#10;&#10;Because in biology, perfect order isn’t always healthy.&#10;&#10;Sometimes, a little chaos means life.&#10;&#10;Subscribe to The Code of the Universe for science and mathematics explained simply." id="243" name="Google Shape;243;p35" title="The Mathematics of Heart Rhythm: Why Perfect Regularity Is Actually Bad">
            <a:hlinkClick r:id="rId3"/>
          </p:cNvPr>
          <p:cNvPicPr preferRelativeResize="0"/>
          <p:nvPr/>
        </p:nvPicPr>
        <p:blipFill>
          <a:blip r:embed="rId4">
            <a:alphaModFix/>
          </a:blip>
          <a:stretch>
            <a:fillRect/>
          </a:stretch>
        </p:blipFill>
        <p:spPr>
          <a:xfrm>
            <a:off x="-118525" y="5"/>
            <a:ext cx="9144000" cy="51434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48" name="Shape 248"/>
        <p:cNvGrpSpPr/>
        <p:nvPr/>
      </p:nvGrpSpPr>
      <p:grpSpPr>
        <a:xfrm>
          <a:off x="0" y="0"/>
          <a:ext cx="0" cy="0"/>
          <a:chOff x="0" y="0"/>
          <a:chExt cx="0" cy="0"/>
        </a:xfrm>
      </p:grpSpPr>
      <p:pic>
        <p:nvPicPr>
          <p:cNvPr descr="Did you know that a perfectly regular heartbeat can be a warning sign? ❤️&#10;&#10;We usually think that a healthy heart should beat like a perfect clock.&#10;But real biology is far more fascinating.&#10;&#10;A healthy heart doesn’t beat with perfect precision — it fluctuates.&#10;&#10;And hidden inside those fluctuations is a beautiful mathematical structure: fractals.&#10;&#10;In this video, you’ll discover:&#10;&#10;✔ what Heart Rate Variability (HRV) really is&#10;✔ why healthy hearts are naturally irregular&#10;✔ how fractals appear in biological systems&#10;✔ why chaos is essential for life&#10;✔ how mathematics helps detect heart disease&#10;✔ how smartwatches analyze your heartbeat using nonlinear math&#10;&#10;You’ll learn how fractal geometry, chaos theory, and nonlinear dynamics reveal one of the deepest secrets of life.&#10;&#10;Because in biology, perfect order isn’t always healthy.&#10;&#10;Sometimes, a little chaos means life.&#10;&#10;Subscribe to The Code of the Universe for science and mathematics explained simply." id="249" name="Google Shape;249;p36" title="The Mathematics of Heart Rhythm: Why Perfect Regularity Is Actually Bad">
            <a:hlinkClick r:id="rId3"/>
          </p:cNvPr>
          <p:cNvPicPr preferRelativeResize="0"/>
          <p:nvPr/>
        </p:nvPicPr>
        <p:blipFill>
          <a:blip r:embed="rId4">
            <a:alphaModFix/>
          </a:blip>
          <a:stretch>
            <a:fillRect/>
          </a:stretch>
        </p:blipFill>
        <p:spPr>
          <a:xfrm>
            <a:off x="0" y="22"/>
            <a:ext cx="9084750" cy="51101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7"/>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pic>
        <p:nvPicPr>
          <p:cNvPr id="255" name="Google Shape;255;p37"/>
          <p:cNvPicPr preferRelativeResize="0"/>
          <p:nvPr/>
        </p:nvPicPr>
        <p:blipFill>
          <a:blip r:embed="rId3">
            <a:alphaModFix/>
          </a:blip>
          <a:stretch>
            <a:fillRect/>
          </a:stretch>
        </p:blipFill>
        <p:spPr>
          <a:xfrm>
            <a:off x="152400" y="1170125"/>
            <a:ext cx="8839200" cy="2959005"/>
          </a:xfrm>
          <a:prstGeom prst="rect">
            <a:avLst/>
          </a:prstGeom>
          <a:noFill/>
          <a:ln>
            <a:noFill/>
          </a:ln>
        </p:spPr>
      </p:pic>
      <p:sp>
        <p:nvSpPr>
          <p:cNvPr id="256" name="Google Shape;256;p37"/>
          <p:cNvSpPr txBox="1"/>
          <p:nvPr>
            <p:ph type="title"/>
          </p:nvPr>
        </p:nvSpPr>
        <p:spPr>
          <a:xfrm>
            <a:off x="311700" y="445025"/>
            <a:ext cx="8520600" cy="572700"/>
          </a:xfrm>
          <a:prstGeom prst="rect">
            <a:avLst/>
          </a:prstGeom>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US"/>
              <a:t>Is Computation Ready for Capturing Human Health?</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8"/>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pic>
        <p:nvPicPr>
          <p:cNvPr id="262" name="Google Shape;262;p38"/>
          <p:cNvPicPr preferRelativeResize="0"/>
          <p:nvPr/>
        </p:nvPicPr>
        <p:blipFill>
          <a:blip r:embed="rId3">
            <a:alphaModFix/>
          </a:blip>
          <a:stretch>
            <a:fillRect/>
          </a:stretch>
        </p:blipFill>
        <p:spPr>
          <a:xfrm>
            <a:off x="152400" y="1170125"/>
            <a:ext cx="8839200" cy="2959005"/>
          </a:xfrm>
          <a:prstGeom prst="rect">
            <a:avLst/>
          </a:prstGeom>
          <a:noFill/>
          <a:ln>
            <a:noFill/>
          </a:ln>
        </p:spPr>
      </p:pic>
      <p:sp>
        <p:nvSpPr>
          <p:cNvPr id="263" name="Google Shape;263;p38"/>
          <p:cNvSpPr txBox="1"/>
          <p:nvPr>
            <p:ph type="title"/>
          </p:nvPr>
        </p:nvSpPr>
        <p:spPr>
          <a:xfrm>
            <a:off x="311700" y="445025"/>
            <a:ext cx="8520600" cy="572700"/>
          </a:xfrm>
          <a:prstGeom prst="rect">
            <a:avLst/>
          </a:prstGeom>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US"/>
              <a:t>Is Computation Ready for Capturing Human Health?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68" name="Shape 268"/>
        <p:cNvGrpSpPr/>
        <p:nvPr/>
      </p:nvGrpSpPr>
      <p:grpSpPr>
        <a:xfrm>
          <a:off x="0" y="0"/>
          <a:ext cx="0" cy="0"/>
          <a:chOff x="0" y="0"/>
          <a:chExt cx="0" cy="0"/>
        </a:xfrm>
      </p:grpSpPr>
      <p:pic>
        <p:nvPicPr>
          <p:cNvPr id="269" name="Google Shape;269;p3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70" name="Google Shape;270;p39"/>
          <p:cNvSpPr/>
          <p:nvPr/>
        </p:nvSpPr>
        <p:spPr>
          <a:xfrm>
            <a:off x="4850319" y="4506563"/>
            <a:ext cx="3479100" cy="1692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SzPts val="1100"/>
              <a:buFont typeface="Arial"/>
              <a:buNone/>
            </a:pPr>
            <a:r>
              <a:t/>
            </a:r>
            <a:endParaRPr sz="1100"/>
          </a:p>
        </p:txBody>
      </p:sp>
      <p:sp>
        <p:nvSpPr>
          <p:cNvPr id="271" name="Google Shape;271;p39"/>
          <p:cNvSpPr/>
          <p:nvPr/>
        </p:nvSpPr>
        <p:spPr>
          <a:xfrm>
            <a:off x="578644" y="435769"/>
            <a:ext cx="8536200" cy="438900"/>
          </a:xfrm>
          <a:prstGeom prst="rect">
            <a:avLst/>
          </a:prstGeom>
          <a:noFill/>
          <a:ln>
            <a:noFill/>
          </a:ln>
        </p:spPr>
        <p:txBody>
          <a:bodyPr anchorCtr="0" anchor="t" bIns="0" lIns="0" spcFirstLastPara="1" rIns="0" wrap="square" tIns="0">
            <a:noAutofit/>
          </a:bodyPr>
          <a:lstStyle/>
          <a:p>
            <a:pPr indent="0" lvl="0" marL="0" marR="0" rtl="0" algn="l">
              <a:lnSpc>
                <a:spcPct val="119968"/>
              </a:lnSpc>
              <a:spcBef>
                <a:spcPts val="0"/>
              </a:spcBef>
              <a:spcAft>
                <a:spcPts val="0"/>
              </a:spcAft>
              <a:buClr>
                <a:srgbClr val="F1F5F9"/>
              </a:buClr>
              <a:buSzPts val="2400"/>
              <a:buFont typeface="Exo 2"/>
              <a:buNone/>
            </a:pPr>
            <a:r>
              <a:rPr b="1" lang="en-US" sz="2400">
                <a:solidFill>
                  <a:srgbClr val="F1F5F9"/>
                </a:solidFill>
                <a:latin typeface="Exo 2"/>
                <a:ea typeface="Exo 2"/>
                <a:cs typeface="Exo 2"/>
                <a:sym typeface="Exo 2"/>
              </a:rPr>
              <a:t>What is at the Heart of Computing for Medicine Today?</a:t>
            </a:r>
            <a:endParaRPr sz="1100"/>
          </a:p>
        </p:txBody>
      </p:sp>
      <p:sp>
        <p:nvSpPr>
          <p:cNvPr id="272" name="Google Shape;272;p39"/>
          <p:cNvSpPr/>
          <p:nvPr/>
        </p:nvSpPr>
        <p:spPr>
          <a:xfrm>
            <a:off x="435769" y="435769"/>
            <a:ext cx="35700" cy="360000"/>
          </a:xfrm>
          <a:prstGeom prst="rect">
            <a:avLst/>
          </a:prstGeom>
          <a:solidFill>
            <a:srgbClr val="10B98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dk1"/>
              </a:solidFill>
              <a:latin typeface="Calibri"/>
              <a:ea typeface="Calibri"/>
              <a:cs typeface="Calibri"/>
              <a:sym typeface="Calibri"/>
            </a:endParaRPr>
          </a:p>
        </p:txBody>
      </p:sp>
      <p:sp>
        <p:nvSpPr>
          <p:cNvPr id="273" name="Google Shape;273;p39"/>
          <p:cNvSpPr txBox="1"/>
          <p:nvPr>
            <p:ph idx="4294967295" type="title"/>
          </p:nvPr>
        </p:nvSpPr>
        <p:spPr>
          <a:xfrm>
            <a:off x="634025" y="2446250"/>
            <a:ext cx="4364100" cy="17679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US">
                <a:solidFill>
                  <a:schemeClr val="lt1"/>
                </a:solidFill>
              </a:rPr>
              <a:t>Scaled Dot Product (Similarity with Context)</a:t>
            </a:r>
            <a:endParaRPr>
              <a:solidFill>
                <a:schemeClr val="lt1"/>
              </a:solidFill>
            </a:endParaRPr>
          </a:p>
        </p:txBody>
      </p:sp>
      <p:pic>
        <p:nvPicPr>
          <p:cNvPr id="274" name="Google Shape;274;p39"/>
          <p:cNvPicPr preferRelativeResize="0"/>
          <p:nvPr/>
        </p:nvPicPr>
        <p:blipFill rotWithShape="1">
          <a:blip r:embed="rId4">
            <a:alphaModFix/>
          </a:blip>
          <a:srcRect b="0" l="-4120" r="4120" t="0"/>
          <a:stretch/>
        </p:blipFill>
        <p:spPr>
          <a:xfrm>
            <a:off x="634025" y="1471169"/>
            <a:ext cx="4235649" cy="765350"/>
          </a:xfrm>
          <a:prstGeom prst="rect">
            <a:avLst/>
          </a:prstGeom>
          <a:noFill/>
          <a:ln>
            <a:noFill/>
          </a:ln>
        </p:spPr>
      </p:pic>
      <p:pic>
        <p:nvPicPr>
          <p:cNvPr id="275" name="Google Shape;275;p39"/>
          <p:cNvPicPr preferRelativeResize="0"/>
          <p:nvPr/>
        </p:nvPicPr>
        <p:blipFill>
          <a:blip r:embed="rId5">
            <a:alphaModFix/>
          </a:blip>
          <a:stretch>
            <a:fillRect/>
          </a:stretch>
        </p:blipFill>
        <p:spPr>
          <a:xfrm>
            <a:off x="6213149" y="1736425"/>
            <a:ext cx="2069010" cy="318755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0"/>
          <p:cNvSpPr txBox="1"/>
          <p:nvPr>
            <p:ph type="title"/>
          </p:nvPr>
        </p:nvSpPr>
        <p:spPr>
          <a:xfrm>
            <a:off x="342900" y="205978"/>
            <a:ext cx="6172200" cy="8574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US"/>
              <a:t>Library Analogy: Query, Key, Value </a:t>
            </a:r>
            <a:endParaRPr/>
          </a:p>
        </p:txBody>
      </p:sp>
      <p:sp>
        <p:nvSpPr>
          <p:cNvPr id="281" name="Google Shape;281;p40"/>
          <p:cNvSpPr txBox="1"/>
          <p:nvPr>
            <p:ph idx="12" type="sldNum"/>
          </p:nvPr>
        </p:nvSpPr>
        <p:spPr>
          <a:xfrm>
            <a:off x="4914900" y="4767263"/>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888888"/>
              </a:buClr>
              <a:buSzPts val="900"/>
              <a:buFont typeface="Calibri"/>
              <a:buNone/>
            </a:pPr>
            <a:fld id="{00000000-1234-1234-1234-123412341234}" type="slidenum">
              <a:rPr lang="en-US"/>
              <a:t>‹#›</a:t>
            </a:fld>
            <a:endParaRPr/>
          </a:p>
        </p:txBody>
      </p:sp>
      <p:pic>
        <p:nvPicPr>
          <p:cNvPr id="282" name="Google Shape;282;p40"/>
          <p:cNvPicPr preferRelativeResize="0"/>
          <p:nvPr/>
        </p:nvPicPr>
        <p:blipFill>
          <a:blip r:embed="rId3">
            <a:alphaModFix/>
          </a:blip>
          <a:stretch>
            <a:fillRect/>
          </a:stretch>
        </p:blipFill>
        <p:spPr>
          <a:xfrm>
            <a:off x="1529938" y="1420445"/>
            <a:ext cx="6084129" cy="319443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87" name="Shape 287"/>
        <p:cNvGrpSpPr/>
        <p:nvPr/>
      </p:nvGrpSpPr>
      <p:grpSpPr>
        <a:xfrm>
          <a:off x="0" y="0"/>
          <a:ext cx="0" cy="0"/>
          <a:chOff x="0" y="0"/>
          <a:chExt cx="0" cy="0"/>
        </a:xfrm>
      </p:grpSpPr>
      <p:pic>
        <p:nvPicPr>
          <p:cNvPr id="288" name="Google Shape;288;p41"/>
          <p:cNvPicPr preferRelativeResize="0"/>
          <p:nvPr/>
        </p:nvPicPr>
        <p:blipFill>
          <a:blip r:embed="rId3">
            <a:alphaModFix/>
          </a:blip>
          <a:stretch>
            <a:fillRect/>
          </a:stretch>
        </p:blipFill>
        <p:spPr>
          <a:xfrm>
            <a:off x="152400" y="152400"/>
            <a:ext cx="8839204" cy="4367810"/>
          </a:xfrm>
          <a:prstGeom prst="rect">
            <a:avLst/>
          </a:prstGeom>
          <a:noFill/>
          <a:ln>
            <a:noFill/>
          </a:ln>
        </p:spPr>
      </p:pic>
      <p:sp>
        <p:nvSpPr>
          <p:cNvPr id="289" name="Google Shape;289;p41"/>
          <p:cNvSpPr txBox="1"/>
          <p:nvPr/>
        </p:nvSpPr>
        <p:spPr>
          <a:xfrm>
            <a:off x="0" y="4647500"/>
            <a:ext cx="9144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lt1"/>
                </a:solidFill>
              </a:rPr>
              <a:t>https://blog.metaphacts.com/neuro-symbolic-ai-the-key-to-truly-intelligent-systems</a:t>
            </a:r>
            <a:endParaRPr>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94" name="Shape 294"/>
        <p:cNvGrpSpPr/>
        <p:nvPr/>
      </p:nvGrpSpPr>
      <p:grpSpPr>
        <a:xfrm>
          <a:off x="0" y="0"/>
          <a:ext cx="0" cy="0"/>
          <a:chOff x="0" y="0"/>
          <a:chExt cx="0" cy="0"/>
        </a:xfrm>
      </p:grpSpPr>
      <p:pic>
        <p:nvPicPr>
          <p:cNvPr id="295" name="Google Shape;295;p42"/>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296" name="Google Shape;296;p42"/>
          <p:cNvPicPr preferRelativeResize="0"/>
          <p:nvPr/>
        </p:nvPicPr>
        <p:blipFill rotWithShape="1">
          <a:blip r:embed="rId4">
            <a:alphaModFix/>
          </a:blip>
          <a:srcRect b="0" l="0" r="0" t="0"/>
          <a:stretch/>
        </p:blipFill>
        <p:spPr>
          <a:xfrm>
            <a:off x="435769" y="1525190"/>
            <a:ext cx="8272462" cy="571500"/>
          </a:xfrm>
          <a:prstGeom prst="rect">
            <a:avLst/>
          </a:prstGeom>
          <a:noFill/>
          <a:ln>
            <a:noFill/>
          </a:ln>
        </p:spPr>
      </p:pic>
      <p:sp>
        <p:nvSpPr>
          <p:cNvPr id="297" name="Google Shape;297;p42"/>
          <p:cNvSpPr/>
          <p:nvPr/>
        </p:nvSpPr>
        <p:spPr>
          <a:xfrm>
            <a:off x="228957" y="2311003"/>
            <a:ext cx="8686200" cy="8229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8FAFC"/>
              </a:buClr>
              <a:buSzPts val="4500"/>
              <a:buFont typeface="Exo 2"/>
              <a:buNone/>
            </a:pPr>
            <a:r>
              <a:rPr b="1" i="0" lang="en-US" sz="4500" u="none" cap="none">
                <a:solidFill>
                  <a:srgbClr val="F8FAFC"/>
                </a:solidFill>
                <a:latin typeface="Exo 2"/>
                <a:ea typeface="Exo 2"/>
                <a:cs typeface="Exo 2"/>
                <a:sym typeface="Exo 2"/>
              </a:rPr>
              <a:t>Thank you</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FFFF00"/>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